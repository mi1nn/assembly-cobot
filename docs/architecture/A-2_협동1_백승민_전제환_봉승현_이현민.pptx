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12192000"/>
  <p:notesSz cx="6858000" cy="12192000"/>
  <p:embeddedFontLst>
    <p:embeddedFont>
      <p:font typeface="Noto Sans KR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font" Target="fonts/NotoSansKR-regular.fntdata"/><Relationship Id="rId35" Type="http://schemas.openxmlformats.org/officeDocument/2006/relationships/font" Target="fonts/NotoSansKR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ae937188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fae937188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14MW(14,000kW)는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약 2만 8천~4만 2천 평(약 9만~14만㎡)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이상의 넓은 부지가 필요</a:t>
            </a:r>
            <a:endParaRPr/>
          </a:p>
        </p:txBody>
      </p:sp>
      <p:sp>
        <p:nvSpPr>
          <p:cNvPr id="57" name="Google Shape;57;g3fae937188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ae9371889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fae9371889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14MW(14,000kW)는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약 2만 8천~4만 2천 평(약 9만~14만㎡)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이상의 넓은 부지가 필요</a:t>
            </a:r>
            <a:endParaRPr/>
          </a:p>
        </p:txBody>
      </p:sp>
      <p:sp>
        <p:nvSpPr>
          <p:cNvPr id="74" name="Google Shape;74;g3fae9371889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ae9371889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fae9371889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14MW(14,000kW)는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약 2만 8천~4만 2천 평(약 9만~14만㎡)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이상의 넓은 부지가 필요</a:t>
            </a:r>
            <a:endParaRPr/>
          </a:p>
        </p:txBody>
      </p:sp>
      <p:sp>
        <p:nvSpPr>
          <p:cNvPr id="94" name="Google Shape;94;g3fae9371889_0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869a057f7_0_3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f869a057f7_0_3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f869a057f7_0_3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869a057f7_0_2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f869a057f7_0_2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f869a057f7_0_2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869a057f7_0_137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f869a057f7_0_137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f869a057f7_0_137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f869a057f7_0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f869a057f7_0_137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f869a057f7_0_1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8b9267ab23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38b9267ab23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8b9267ab23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8b9267ab23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g38b9267ab23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8b9267ab23_0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8b9267ab23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38b9267ab23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8b9267ab23_0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8b9267ab23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38b9267ab23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8b9267ab23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8b9267ab23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g38b9267ab23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8b9267ab23_0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f869a057f7_0_3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g3f869a057f7_0_3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f869a057f7_0_3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f869a057f7_0_6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g3f869a057f7_0_6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3f869a057f7_0_6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f869a057f7_0_6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g3f869a057f7_0_6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f869a057f7_0_6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f869a057f7_0_5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g3f869a057f7_0_5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f869a057f7_0_5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f869a057f7_0_7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3f869a057f7_0_7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g3f869a057f7_0_7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869a057f7_0_7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g3f869a057f7_0_7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f869a057f7_0_7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f869a057f7_0_4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g3f869a057f7_0_4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f869a057f7_0_4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4.png"/><Relationship Id="rId8" Type="http://schemas.openxmlformats.org/officeDocument/2006/relationships/image" Target="../media/image17.png"/><Relationship Id="rId9" Type="http://schemas.openxmlformats.org/officeDocument/2006/relationships/image" Target="../media/image31.png"/><Relationship Id="rId10" Type="http://schemas.openxmlformats.org/officeDocument/2006/relationships/image" Target="../media/image23.png"/><Relationship Id="rId11" Type="http://schemas.openxmlformats.org/officeDocument/2006/relationships/image" Target="../media/image28.png"/><Relationship Id="rId12" Type="http://schemas.openxmlformats.org/officeDocument/2006/relationships/image" Target="../media/image2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Relationship Id="rId6" Type="http://schemas.openxmlformats.org/officeDocument/2006/relationships/image" Target="../media/image32.png"/><Relationship Id="rId7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D22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rot="-9600071">
            <a:off x="8730591" y="5713075"/>
            <a:ext cx="4206131" cy="4206131"/>
          </a:xfrm>
          <a:prstGeom prst="blockArc">
            <a:avLst>
              <a:gd fmla="val 0" name="adj1"/>
              <a:gd fmla="val 8400000" name="adj2"/>
              <a:gd fmla="val 6000" name="adj3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협동 1 프로젝트</a:t>
            </a:r>
            <a:endParaRPr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822949" y="2377450"/>
            <a:ext cx="96378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M0609를 이용한</a:t>
            </a:r>
            <a:endParaRPr i="0" sz="3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지상형 태양광 패널 구조물 조립 </a:t>
            </a:r>
            <a:r>
              <a:rPr b="1" lang="en-US" sz="3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MES 연동</a:t>
            </a:r>
            <a:r>
              <a:rPr b="1" i="0" lang="en-US" sz="34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자동화</a:t>
            </a:r>
            <a:endParaRPr i="0" sz="3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822960" y="434340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F/T 센서 기반 힘 제어 삽입으로 구현한</a:t>
            </a:r>
            <a:endParaRPr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비전 없는 협동로봇 조립 자동화 시스템</a:t>
            </a:r>
            <a:endParaRPr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Rokey 부트캠프 협동 프로젝트 1 발표자료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822960" y="594360"/>
            <a:ext cx="5486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목차</a:t>
            </a:r>
            <a:endParaRPr i="0" sz="3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822960" y="1737360"/>
            <a:ext cx="9144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9" name="Google Shape;29;p5"/>
          <p:cNvCxnSpPr/>
          <p:nvPr/>
        </p:nvCxnSpPr>
        <p:spPr>
          <a:xfrm>
            <a:off x="1783080" y="1810512"/>
            <a:ext cx="0" cy="694800"/>
          </a:xfrm>
          <a:prstGeom prst="straightConnector1">
            <a:avLst/>
          </a:prstGeom>
          <a:noFill/>
          <a:ln cap="flat" cmpd="sng" w="12700">
            <a:solidFill>
              <a:srgbClr val="D8D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5"/>
          <p:cNvSpPr/>
          <p:nvPr/>
        </p:nvSpPr>
        <p:spPr>
          <a:xfrm>
            <a:off x="2057400" y="1737360"/>
            <a:ext cx="3291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개요</a:t>
            </a:r>
            <a:endParaRPr i="0" sz="17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5486400" y="1737360"/>
            <a:ext cx="5852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기획 배경 · 핵심 공정 · 차별화 포인트</a:t>
            </a:r>
            <a:endParaRPr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2" name="Google Shape;32;p5"/>
          <p:cNvCxnSpPr/>
          <p:nvPr/>
        </p:nvCxnSpPr>
        <p:spPr>
          <a:xfrm>
            <a:off x="822960" y="2578608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D8D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5"/>
          <p:cNvSpPr/>
          <p:nvPr/>
        </p:nvSpPr>
        <p:spPr>
          <a:xfrm>
            <a:off x="822960" y="2578608"/>
            <a:ext cx="9144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4" name="Google Shape;34;p5"/>
          <p:cNvCxnSpPr/>
          <p:nvPr/>
        </p:nvCxnSpPr>
        <p:spPr>
          <a:xfrm>
            <a:off x="1783080" y="2651760"/>
            <a:ext cx="0" cy="694800"/>
          </a:xfrm>
          <a:prstGeom prst="straightConnector1">
            <a:avLst/>
          </a:prstGeom>
          <a:noFill/>
          <a:ln cap="flat" cmpd="sng" w="12700">
            <a:solidFill>
              <a:srgbClr val="D8D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5"/>
          <p:cNvSpPr/>
          <p:nvPr/>
        </p:nvSpPr>
        <p:spPr>
          <a:xfrm>
            <a:off x="2057400" y="2578608"/>
            <a:ext cx="3291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팀 구성 및 역할</a:t>
            </a:r>
            <a:endParaRPr i="0" sz="17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5486400" y="2578608"/>
            <a:ext cx="5852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레이어 기준 담당 업무 분배</a:t>
            </a:r>
            <a:endParaRPr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7" name="Google Shape;37;p5"/>
          <p:cNvCxnSpPr/>
          <p:nvPr/>
        </p:nvCxnSpPr>
        <p:spPr>
          <a:xfrm>
            <a:off x="822960" y="3419856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D8D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5"/>
          <p:cNvSpPr/>
          <p:nvPr/>
        </p:nvSpPr>
        <p:spPr>
          <a:xfrm>
            <a:off x="822960" y="3419856"/>
            <a:ext cx="9144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9" name="Google Shape;39;p5"/>
          <p:cNvCxnSpPr/>
          <p:nvPr/>
        </p:nvCxnSpPr>
        <p:spPr>
          <a:xfrm>
            <a:off x="1783080" y="3493008"/>
            <a:ext cx="0" cy="694800"/>
          </a:xfrm>
          <a:prstGeom prst="straightConnector1">
            <a:avLst/>
          </a:prstGeom>
          <a:noFill/>
          <a:ln cap="flat" cmpd="sng" w="12700">
            <a:solidFill>
              <a:srgbClr val="D8D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5"/>
          <p:cNvSpPr/>
          <p:nvPr/>
        </p:nvSpPr>
        <p:spPr>
          <a:xfrm>
            <a:off x="2057400" y="3419856"/>
            <a:ext cx="3291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수행 절차 및 방법</a:t>
            </a:r>
            <a:endParaRPr i="0" sz="17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5486400" y="3419856"/>
            <a:ext cx="5852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추적 체계 · 구현 순서 · 일정</a:t>
            </a:r>
            <a:endParaRPr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2" name="Google Shape;42;p5"/>
          <p:cNvCxnSpPr/>
          <p:nvPr/>
        </p:nvCxnSpPr>
        <p:spPr>
          <a:xfrm>
            <a:off x="822960" y="4261104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D8D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5"/>
          <p:cNvSpPr/>
          <p:nvPr/>
        </p:nvSpPr>
        <p:spPr>
          <a:xfrm>
            <a:off x="822960" y="4261104"/>
            <a:ext cx="9144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4" name="Google Shape;44;p5"/>
          <p:cNvCxnSpPr/>
          <p:nvPr/>
        </p:nvCxnSpPr>
        <p:spPr>
          <a:xfrm>
            <a:off x="1783080" y="4334256"/>
            <a:ext cx="0" cy="694800"/>
          </a:xfrm>
          <a:prstGeom prst="straightConnector1">
            <a:avLst/>
          </a:prstGeom>
          <a:noFill/>
          <a:ln cap="flat" cmpd="sng" w="12700">
            <a:solidFill>
              <a:srgbClr val="D8D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5"/>
          <p:cNvSpPr/>
          <p:nvPr/>
        </p:nvSpPr>
        <p:spPr>
          <a:xfrm>
            <a:off x="2057400" y="4261104"/>
            <a:ext cx="3291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수행 경과</a:t>
            </a:r>
            <a:endParaRPr i="0" sz="17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5486400" y="4261104"/>
            <a:ext cx="5852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 아키텍처 · 구현 결과 · 진행 이슈</a:t>
            </a:r>
            <a:endParaRPr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7" name="Google Shape;47;p5"/>
          <p:cNvCxnSpPr/>
          <p:nvPr/>
        </p:nvCxnSpPr>
        <p:spPr>
          <a:xfrm>
            <a:off x="822960" y="510235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D8D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5"/>
          <p:cNvSpPr/>
          <p:nvPr/>
        </p:nvSpPr>
        <p:spPr>
          <a:xfrm>
            <a:off x="822960" y="5102352"/>
            <a:ext cx="9144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05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9" name="Google Shape;49;p5"/>
          <p:cNvCxnSpPr/>
          <p:nvPr/>
        </p:nvCxnSpPr>
        <p:spPr>
          <a:xfrm>
            <a:off x="1783080" y="5175504"/>
            <a:ext cx="0" cy="694800"/>
          </a:xfrm>
          <a:prstGeom prst="straightConnector1">
            <a:avLst/>
          </a:prstGeom>
          <a:noFill/>
          <a:ln cap="flat" cmpd="sng" w="12700">
            <a:solidFill>
              <a:srgbClr val="D8D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5"/>
          <p:cNvSpPr/>
          <p:nvPr/>
        </p:nvSpPr>
        <p:spPr>
          <a:xfrm>
            <a:off x="2057400" y="5102352"/>
            <a:ext cx="3291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자체 평가 의견</a:t>
            </a:r>
            <a:endParaRPr i="0" sz="17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486400" y="5102352"/>
            <a:ext cx="5852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완성도 · 잘한 점 · 개선점 · 성과</a:t>
            </a:r>
            <a:endParaRPr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548640" y="38404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01  프로젝트 개요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548640" y="77724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개요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548640" y="129844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옥외 태양광 설치 현장의 특성을 반영한 의도적 설계 선택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332803" y="2181799"/>
            <a:ext cx="2724900" cy="3769200"/>
          </a:xfrm>
          <a:prstGeom prst="roundRect">
            <a:avLst>
              <a:gd fmla="val 3944" name="adj"/>
            </a:avLst>
          </a:prstGeom>
          <a:solidFill>
            <a:srgbClr val="F4F4F5"/>
          </a:solidFill>
          <a:ln>
            <a:noFill/>
          </a:ln>
          <a:effectLst>
            <a:outerShdw blurRad="101600" rotWithShape="0" algn="bl" dir="54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597732" y="2474418"/>
            <a:ext cx="567000" cy="5670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597732" y="2474418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1" i="0" sz="2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548650" y="3086100"/>
            <a:ext cx="331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주제 및 선정 배경</a:t>
            </a:r>
            <a:endParaRPr i="0" sz="14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57200" y="3187546"/>
            <a:ext cx="2446800" cy="25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 옥외 태양광 설치는 조명 · 먼지 변화가 커 비전 인식에 불리함. </a:t>
            </a:r>
            <a:endParaRPr sz="1150">
              <a:solidFill>
                <a:srgbClr val="5B5F66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 또한, 지붕 추락과 전기 감전 등 작업자로부터 위험 요소 제거함.</a:t>
            </a:r>
            <a:endParaRPr sz="1150">
              <a:solidFill>
                <a:srgbClr val="5B5F66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 정형화된 반복 공정에 F/T 센서 기반 접촉 검증을 적용한 차별화 사례</a:t>
            </a:r>
            <a:endParaRPr i="0" sz="11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3561" y="1925415"/>
            <a:ext cx="2846401" cy="4287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1950" y="1788923"/>
            <a:ext cx="3197353" cy="4560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548640" y="38404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01  프로젝트 개요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548640" y="77724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개요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548640" y="129844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옥외 태양광 설치 현장의 특성을 반영한 의도적 설계 선택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3225111" y="2181799"/>
            <a:ext cx="2724900" cy="3769200"/>
          </a:xfrm>
          <a:prstGeom prst="roundRect">
            <a:avLst>
              <a:gd fmla="val 3944" name="adj"/>
            </a:avLst>
          </a:prstGeom>
          <a:solidFill>
            <a:srgbClr val="F4F4F5"/>
          </a:solidFill>
          <a:ln>
            <a:noFill/>
          </a:ln>
          <a:effectLst>
            <a:outerShdw blurRad="101600" rotWithShape="0" algn="bl" dir="54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3490040" y="2474418"/>
            <a:ext cx="567000" cy="5670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3490040" y="2474418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b="1" i="0" sz="2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3440952" y="3086100"/>
            <a:ext cx="244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내용</a:t>
            </a:r>
            <a:endParaRPr i="0" sz="14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3349500" y="3187525"/>
            <a:ext cx="2446800" cy="25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기둥 - 프레임 - 스냅핏 체결 - 패널 설치 4단계 조립을 F/T 센서로 검증하며 자동 수행, MES 연동 대시보드로 공정 관리 </a:t>
            </a:r>
            <a:endParaRPr i="0" sz="11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6143876" y="2181800"/>
            <a:ext cx="4823100" cy="3769200"/>
          </a:xfrm>
          <a:prstGeom prst="roundRect">
            <a:avLst>
              <a:gd fmla="val 3944" name="adj"/>
            </a:avLst>
          </a:prstGeom>
          <a:solidFill>
            <a:srgbClr val="F4F4F5"/>
          </a:solidFill>
          <a:ln>
            <a:noFill/>
          </a:ln>
          <a:effectLst>
            <a:outerShdw blurRad="101600" rotWithShape="0" algn="bl" dir="54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6408813" y="2474418"/>
            <a:ext cx="567000" cy="5670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6408813" y="2474418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b="1" i="0" sz="2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6359726" y="3086100"/>
            <a:ext cx="250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구조</a:t>
            </a:r>
            <a:endParaRPr i="0" sz="14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6268275" y="3247075"/>
            <a:ext cx="42075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목적 : 비전없는 F/T 기반 조립 자동화 구현 </a:t>
            </a:r>
            <a:endParaRPr sz="1150">
              <a:solidFill>
                <a:srgbClr val="5B5F66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기간: 2주 / 사전기획 ~ 통합 테스트</a:t>
            </a:r>
            <a:endParaRPr sz="1150">
              <a:solidFill>
                <a:srgbClr val="5B5F66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DashBoard - Backend - Bridge - Robot 4계층 구현</a:t>
            </a:r>
            <a:endParaRPr sz="1150">
              <a:solidFill>
                <a:srgbClr val="5B5F66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1625" lvl="0" marL="457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50"/>
              <a:buFont typeface="Noto Sans KR"/>
              <a:buChar char="-"/>
            </a:pPr>
            <a:r>
              <a:rPr lang="en-US" sz="115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의존성</a:t>
            </a:r>
            <a:endParaRPr sz="1150">
              <a:solidFill>
                <a:srgbClr val="5B5F66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1625" lvl="0" marL="457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50"/>
              <a:buFont typeface="Noto Sans KR"/>
              <a:buChar char="-"/>
            </a:pPr>
            <a:r>
              <a:rPr lang="en-US" sz="115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ROS2 Jazzy</a:t>
            </a:r>
            <a:endParaRPr sz="1150">
              <a:solidFill>
                <a:srgbClr val="5B5F66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1625" lvl="0" marL="457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50"/>
              <a:buFont typeface="Noto Sans KR"/>
              <a:buChar char="-"/>
            </a:pPr>
            <a:r>
              <a:rPr lang="en-US" sz="115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Python 3</a:t>
            </a:r>
            <a:endParaRPr sz="1150">
              <a:solidFill>
                <a:srgbClr val="5B5F66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1625" lvl="0" marL="457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50"/>
              <a:buFont typeface="Noto Sans KR"/>
              <a:buChar char="-"/>
            </a:pPr>
            <a:r>
              <a:rPr lang="en-US" sz="115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Flask, Flask-SQLAlchemy, SQLAlchemy, python-dotenv, psycopg2, requests</a:t>
            </a:r>
            <a:endParaRPr sz="1150">
              <a:solidFill>
                <a:srgbClr val="5B5F66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1625" lvl="0" marL="457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50"/>
              <a:buFont typeface="Noto Sans KR"/>
              <a:buChar char="-"/>
            </a:pPr>
            <a:r>
              <a:rPr lang="en-US" sz="115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PostgreSQL 16</a:t>
            </a:r>
            <a:endParaRPr sz="1150">
              <a:solidFill>
                <a:srgbClr val="5B5F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/>
          <p:nvPr/>
        </p:nvSpPr>
        <p:spPr>
          <a:xfrm>
            <a:off x="548640" y="38404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01  프로젝트 개요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548640" y="77724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개요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548640" y="129844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옥외 태양광 설치 현장의 특성을 반영한 의도적 설계 선택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9055853" y="2181799"/>
            <a:ext cx="2724900" cy="3769200"/>
          </a:xfrm>
          <a:prstGeom prst="roundRect">
            <a:avLst>
              <a:gd fmla="val 3944" name="adj"/>
            </a:avLst>
          </a:prstGeom>
          <a:solidFill>
            <a:srgbClr val="F4F4F5"/>
          </a:solidFill>
          <a:ln>
            <a:noFill/>
          </a:ln>
          <a:effectLst>
            <a:outerShdw blurRad="101600" rotWithShape="0" algn="bl" dir="54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9320782" y="2474418"/>
            <a:ext cx="567000" cy="5670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9320782" y="2474418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b="1" i="0" sz="2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9271700" y="3086100"/>
            <a:ext cx="244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활용 방안 및 기대 효과</a:t>
            </a:r>
            <a:endParaRPr i="0" sz="14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9180250" y="3187650"/>
            <a:ext cx="2509200" cy="25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F/T 힘 제어 삽입 기술은 반사율 높은 옥외 부품 조립에 적용 가능하며, 협동로봇 자동화 사례로 활용 가능 </a:t>
            </a:r>
            <a:endParaRPr sz="1150">
              <a:solidFill>
                <a:srgbClr val="5B5F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06" name="Google Shape;106;p8"/>
          <p:cNvGrpSpPr/>
          <p:nvPr/>
        </p:nvGrpSpPr>
        <p:grpSpPr>
          <a:xfrm>
            <a:off x="4575300" y="184325"/>
            <a:ext cx="7451602" cy="2457056"/>
            <a:chOff x="4607328" y="66889"/>
            <a:chExt cx="7451602" cy="2457056"/>
          </a:xfrm>
        </p:grpSpPr>
        <p:pic>
          <p:nvPicPr>
            <p:cNvPr id="107" name="Google Shape;107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07328" y="66889"/>
              <a:ext cx="7451602" cy="2243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8"/>
            <p:cNvSpPr/>
            <p:nvPr/>
          </p:nvSpPr>
          <p:spPr>
            <a:xfrm>
              <a:off x="10847225" y="2249745"/>
              <a:ext cx="12117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B5F66"/>
                </a:buClr>
                <a:buSzPts val="900"/>
                <a:buFont typeface="Calibri"/>
                <a:buNone/>
              </a:pPr>
              <a:r>
                <a:rPr lang="en-US" sz="900">
                  <a:solidFill>
                    <a:srgbClr val="5B5F66"/>
                  </a:solidFill>
                  <a:latin typeface="Calibri"/>
                  <a:ea typeface="Calibri"/>
                  <a:cs typeface="Calibri"/>
                  <a:sym typeface="Calibri"/>
                </a:rPr>
                <a:t>출처: ResearchNester</a:t>
              </a:r>
              <a:endParaRPr i="0" sz="9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09" name="Google Shape;109;p8"/>
          <p:cNvGrpSpPr/>
          <p:nvPr/>
        </p:nvGrpSpPr>
        <p:grpSpPr>
          <a:xfrm>
            <a:off x="5455700" y="2626700"/>
            <a:ext cx="3600150" cy="2583900"/>
            <a:chOff x="5455700" y="2626700"/>
            <a:chExt cx="3600150" cy="2583900"/>
          </a:xfrm>
        </p:grpSpPr>
        <p:pic>
          <p:nvPicPr>
            <p:cNvPr id="110" name="Google Shape;110;p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455700" y="2626700"/>
              <a:ext cx="3600150" cy="230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8"/>
            <p:cNvSpPr/>
            <p:nvPr/>
          </p:nvSpPr>
          <p:spPr>
            <a:xfrm>
              <a:off x="7844150" y="4936400"/>
              <a:ext cx="12117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B5F66"/>
                </a:buClr>
                <a:buSzPts val="900"/>
                <a:buFont typeface="Calibri"/>
                <a:buNone/>
              </a:pPr>
              <a:r>
                <a:rPr lang="en-US" sz="900">
                  <a:solidFill>
                    <a:srgbClr val="5B5F66"/>
                  </a:solidFill>
                  <a:latin typeface="Calibri"/>
                  <a:ea typeface="Calibri"/>
                  <a:cs typeface="Calibri"/>
                  <a:sym typeface="Calibri"/>
                </a:rPr>
                <a:t>출처: AES Maximo</a:t>
              </a:r>
              <a:endParaRPr i="0" sz="9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12" name="Google Shape;112;p8"/>
          <p:cNvGrpSpPr/>
          <p:nvPr/>
        </p:nvGrpSpPr>
        <p:grpSpPr>
          <a:xfrm>
            <a:off x="122075" y="2474426"/>
            <a:ext cx="11711874" cy="4070899"/>
            <a:chOff x="122075" y="2474426"/>
            <a:chExt cx="11711874" cy="4070899"/>
          </a:xfrm>
        </p:grpSpPr>
        <p:grpSp>
          <p:nvGrpSpPr>
            <p:cNvPr id="113" name="Google Shape;113;p8"/>
            <p:cNvGrpSpPr/>
            <p:nvPr/>
          </p:nvGrpSpPr>
          <p:grpSpPr>
            <a:xfrm>
              <a:off x="5331300" y="5193850"/>
              <a:ext cx="6502649" cy="1351475"/>
              <a:chOff x="5331300" y="5193850"/>
              <a:chExt cx="6502649" cy="1351475"/>
            </a:xfrm>
          </p:grpSpPr>
          <p:pic>
            <p:nvPicPr>
              <p:cNvPr id="114" name="Google Shape;114;p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331300" y="5193850"/>
                <a:ext cx="6502649" cy="11823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5" name="Google Shape;115;p8"/>
              <p:cNvSpPr/>
              <p:nvPr/>
            </p:nvSpPr>
            <p:spPr>
              <a:xfrm>
                <a:off x="10569050" y="6271125"/>
                <a:ext cx="1211700" cy="27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5B5F66"/>
                  </a:buClr>
                  <a:buSzPts val="900"/>
                  <a:buFont typeface="Calibri"/>
                  <a:buNone/>
                </a:pPr>
                <a:r>
                  <a:rPr lang="en-US" sz="900">
                    <a:solidFill>
                      <a:srgbClr val="5B5F6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출처: IEEE Spectrum</a:t>
                </a:r>
                <a:endParaRPr i="0" sz="90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pic>
          <p:nvPicPr>
            <p:cNvPr id="116" name="Google Shape;116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22075" y="2474426"/>
              <a:ext cx="5164899" cy="233559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7" name="Google Shape;117;p8"/>
            <p:cNvCxnSpPr>
              <a:stCxn id="114" idx="1"/>
            </p:cNvCxnSpPr>
            <p:nvPr/>
          </p:nvCxnSpPr>
          <p:spPr>
            <a:xfrm rot="10800000">
              <a:off x="2241900" y="4216913"/>
              <a:ext cx="3089400" cy="1568100"/>
            </a:xfrm>
            <a:prstGeom prst="curvedConnector3">
              <a:avLst>
                <a:gd fmla="val 50000" name="adj1"/>
              </a:avLst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/>
        </p:nvSpPr>
        <p:spPr>
          <a:xfrm>
            <a:off x="548640" y="38404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01  프로젝트 개요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548640" y="77724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공정 순서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548640" y="129844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기둥 설치부터 패널 고정까지, </a:t>
            </a:r>
            <a:r>
              <a:rPr lang="en-US" sz="130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r>
              <a:rPr i="0" lang="en-US" sz="13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단계 순차 조립 프로세스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26" name="Google Shape;126;p9"/>
          <p:cNvCxnSpPr>
            <a:stCxn id="127" idx="3"/>
            <a:endCxn id="128" idx="1"/>
          </p:cNvCxnSpPr>
          <p:nvPr/>
        </p:nvCxnSpPr>
        <p:spPr>
          <a:xfrm flipH="1" rot="10800000">
            <a:off x="1743185" y="3031023"/>
            <a:ext cx="8708100" cy="32100"/>
          </a:xfrm>
          <a:prstGeom prst="straightConnector1">
            <a:avLst/>
          </a:prstGeom>
          <a:noFill/>
          <a:ln cap="flat" cmpd="sng" w="25400">
            <a:solidFill>
              <a:srgbClr val="D8D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9"/>
          <p:cNvSpPr/>
          <p:nvPr/>
        </p:nvSpPr>
        <p:spPr>
          <a:xfrm>
            <a:off x="920285" y="2651673"/>
            <a:ext cx="822900" cy="8229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920285" y="2651673"/>
            <a:ext cx="822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554525" y="3630081"/>
            <a:ext cx="155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기둥 설치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097350" y="2651723"/>
            <a:ext cx="822900" cy="8229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4097350" y="2651723"/>
            <a:ext cx="822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3731568" y="3630081"/>
            <a:ext cx="155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프레임 설치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7274368" y="2619698"/>
            <a:ext cx="822900" cy="822900"/>
          </a:xfrm>
          <a:prstGeom prst="ellipse">
            <a:avLst/>
          </a:prstGeom>
          <a:solidFill>
            <a:srgbClr val="5B8DEF"/>
          </a:solidFill>
          <a:ln cap="flat" cmpd="sng" w="25400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10451383" y="2619698"/>
            <a:ext cx="822900" cy="8229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"/>
          <p:cNvSpPr/>
          <p:nvPr/>
        </p:nvSpPr>
        <p:spPr>
          <a:xfrm>
            <a:off x="6908608" y="3598106"/>
            <a:ext cx="155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스냅핏 체결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7274368" y="2619698"/>
            <a:ext cx="822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10451383" y="2619698"/>
            <a:ext cx="822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10085623" y="3598106"/>
            <a:ext cx="155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패널 설치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548640" y="5257800"/>
            <a:ext cx="11091600" cy="1051500"/>
          </a:xfrm>
          <a:prstGeom prst="roundRect">
            <a:avLst>
              <a:gd fmla="val 10435" name="adj"/>
            </a:avLst>
          </a:prstGeom>
          <a:solidFill>
            <a:srgbClr val="F4F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868680" y="53559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제외 범위  </a:t>
            </a:r>
            <a:r>
              <a:rPr i="0" lang="en-US" sz="125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비전 형상 인식 · 임의 위치 자동 탐색 · 자석 체결 · 볼트·너트 자동 체결</a:t>
            </a:r>
            <a:endParaRPr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868680" y="5777203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장비/환경  </a:t>
            </a:r>
            <a:r>
              <a:rPr i="0" lang="en-US" sz="125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두산 M0609(그리퍼+내장 F/T) · Ubuntu 24.04 · ROS2 Jazzy · DART Platform/DRL · PostgreSQL</a:t>
            </a:r>
            <a:endParaRPr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914395" y="4443030"/>
            <a:ext cx="576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기둥과 주춧돌의 고정핀 체결은 로봇과의 협동 작업으로 사람이 작업하는 걸로 대체</a:t>
            </a:r>
            <a:endParaRPr i="0" sz="10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D2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/>
          <p:nvPr/>
        </p:nvSpPr>
        <p:spPr>
          <a:xfrm>
            <a:off x="548640" y="38404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01  프로젝트 개요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548640" y="777240"/>
            <a:ext cx="9601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이 프로젝트의 핵심 기술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548650" y="1541125"/>
            <a:ext cx="4363200" cy="4638000"/>
          </a:xfrm>
          <a:prstGeom prst="roundRect">
            <a:avLst>
              <a:gd fmla="val 4156" name="adj"/>
            </a:avLst>
          </a:prstGeom>
          <a:solidFill>
            <a:srgbClr val="24262D"/>
          </a:solidFill>
          <a:ln cap="flat" cmpd="sng" w="12700">
            <a:solidFill>
              <a:srgbClr val="333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868755" y="1975115"/>
            <a:ext cx="3566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F/T 센서 기반</a:t>
            </a:r>
            <a:endParaRPr i="0" sz="2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힘 제어 삽입</a:t>
            </a:r>
            <a:endParaRPr i="0" sz="2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868755" y="3301517"/>
            <a:ext cx="3566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잠금핀을 정해진 깊이까지 1차 삽입한 뒤 재파지하여 축 방향으로 최종 삽입합니다. 과도한 저항이 감지되면 즉시 후퇴하여 안전을 확보합니다.</a:t>
            </a:r>
            <a:endParaRPr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5052802" y="1541125"/>
            <a:ext cx="6678900" cy="2269800"/>
          </a:xfrm>
          <a:prstGeom prst="roundRect">
            <a:avLst>
              <a:gd fmla="val 4156" name="adj"/>
            </a:avLst>
          </a:prstGeom>
          <a:solidFill>
            <a:srgbClr val="24262D"/>
          </a:solidFill>
          <a:ln cap="flat" cmpd="sng" w="12700">
            <a:solidFill>
              <a:srgbClr val="333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5443808" y="1609417"/>
            <a:ext cx="576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스냅핏 체결 프로세스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6186932" y="2083841"/>
            <a:ext cx="640200" cy="640200"/>
          </a:xfrm>
          <a:prstGeom prst="ellipse">
            <a:avLst/>
          </a:prstGeom>
          <a:solidFill>
            <a:srgbClr val="1B1D22"/>
          </a:solidFill>
          <a:ln cap="flat" cmpd="sng" w="21175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6186932" y="2083841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667"/>
              <a:buFont typeface="Cambria"/>
              <a:buNone/>
            </a:pPr>
            <a:r>
              <a:rPr b="1" i="0" lang="en-US" sz="1667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i="0" sz="1667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5541920" y="2723533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1차 삽입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5450480" y="2914693"/>
            <a:ext cx="210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정해진 깊이까지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1차 삽입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7233560" y="2227480"/>
            <a:ext cx="457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B8DE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8102176" y="2055484"/>
            <a:ext cx="640200" cy="640200"/>
          </a:xfrm>
          <a:prstGeom prst="ellipse">
            <a:avLst/>
          </a:prstGeom>
          <a:solidFill>
            <a:srgbClr val="1B1D22"/>
          </a:solidFill>
          <a:ln cap="flat" cmpd="sng" w="21175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8102176" y="2055484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667"/>
              <a:buFont typeface="Cambria"/>
              <a:buNone/>
            </a:pPr>
            <a:r>
              <a:rPr b="1" i="0" lang="en-US" sz="1667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i="0" sz="1667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7462160" y="2723533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재파지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7370720" y="2914693"/>
            <a:ext cx="210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그리퍼로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다시 파지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9153800" y="2227480"/>
            <a:ext cx="457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B8DE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10022425" y="2055484"/>
            <a:ext cx="640200" cy="640200"/>
          </a:xfrm>
          <a:prstGeom prst="ellipse">
            <a:avLst/>
          </a:prstGeom>
          <a:solidFill>
            <a:srgbClr val="5B8DEF"/>
          </a:solidFill>
          <a:ln cap="flat" cmpd="sng" w="21175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10022425" y="2055484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67"/>
              <a:buFont typeface="Cambria"/>
              <a:buNone/>
            </a:pPr>
            <a:r>
              <a:rPr b="1" i="0" lang="en-US" sz="1667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i="0" sz="1667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9382400" y="2723533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삽입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9290960" y="2914693"/>
            <a:ext cx="210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축 방향 가압,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저항 감지 시 후퇴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71" name="Google Shape;171;p10"/>
          <p:cNvCxnSpPr/>
          <p:nvPr/>
        </p:nvCxnSpPr>
        <p:spPr>
          <a:xfrm>
            <a:off x="5541920" y="3493905"/>
            <a:ext cx="5760600" cy="0"/>
          </a:xfrm>
          <a:prstGeom prst="straightConnector1">
            <a:avLst/>
          </a:prstGeom>
          <a:noFill/>
          <a:ln cap="flat" cmpd="sng" w="12700">
            <a:solidFill>
              <a:srgbClr val="3335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10"/>
          <p:cNvSpPr/>
          <p:nvPr/>
        </p:nvSpPr>
        <p:spPr>
          <a:xfrm>
            <a:off x="5541920" y="3464942"/>
            <a:ext cx="576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050"/>
              <a:buFont typeface="Calibri"/>
              <a:buNone/>
            </a:pPr>
            <a:r>
              <a:rPr i="1" lang="en-US" sz="105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저항이 임계값을 초과하면 즉시 후퇴 — 환경 변수에 흔들리지 않는 접촉 기반 검증</a:t>
            </a:r>
            <a:endParaRPr i="0" sz="10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7BAC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052750" y="3909375"/>
            <a:ext cx="6678900" cy="2269800"/>
          </a:xfrm>
          <a:prstGeom prst="roundRect">
            <a:avLst>
              <a:gd fmla="val 4156" name="adj"/>
            </a:avLst>
          </a:prstGeom>
          <a:solidFill>
            <a:srgbClr val="24262D"/>
          </a:solidFill>
          <a:ln cap="flat" cmpd="sng" w="12700">
            <a:solidFill>
              <a:srgbClr val="333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5443758" y="3977667"/>
            <a:ext cx="576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기둥 삽입 프로세스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6186882" y="4452091"/>
            <a:ext cx="640200" cy="640200"/>
          </a:xfrm>
          <a:prstGeom prst="ellipse">
            <a:avLst/>
          </a:prstGeom>
          <a:solidFill>
            <a:srgbClr val="1B1D22"/>
          </a:solidFill>
          <a:ln cap="flat" cmpd="sng" w="21175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6186882" y="4452091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667"/>
              <a:buFont typeface="Cambria"/>
              <a:buNone/>
            </a:pPr>
            <a:r>
              <a:rPr b="1" i="0" lang="en-US" sz="1667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i="0" sz="1667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5541870" y="5091783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기둥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삽입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450430" y="5282943"/>
            <a:ext cx="210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정해진 깊이까지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기둥</a:t>
            </a:r>
            <a:r>
              <a:rPr i="0" lang="en-US" sz="10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 삽입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7233510" y="4595730"/>
            <a:ext cx="457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B8DE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8102126" y="4423734"/>
            <a:ext cx="640200" cy="640200"/>
          </a:xfrm>
          <a:prstGeom prst="ellipse">
            <a:avLst/>
          </a:prstGeom>
          <a:solidFill>
            <a:srgbClr val="1B1D22"/>
          </a:solidFill>
          <a:ln cap="flat" cmpd="sng" w="21175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8102126" y="4423734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667"/>
              <a:buFont typeface="Cambria"/>
              <a:buNone/>
            </a:pPr>
            <a:r>
              <a:rPr b="1" i="0" lang="en-US" sz="1667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i="0" sz="1667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7462110" y="5091783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위치 추적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7420151" y="5282943"/>
            <a:ext cx="210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체결 위치가 안 맞을 경우 </a:t>
            </a:r>
            <a:endParaRPr sz="1000">
              <a:solidFill>
                <a:srgbClr val="B7BA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미세한 x, y 좌표 위치 조정</a:t>
            </a:r>
            <a:endParaRPr sz="1000">
              <a:solidFill>
                <a:srgbClr val="B7BAC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9153750" y="4595730"/>
            <a:ext cx="457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B8DE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10022375" y="4423734"/>
            <a:ext cx="640200" cy="640200"/>
          </a:xfrm>
          <a:prstGeom prst="ellipse">
            <a:avLst/>
          </a:prstGeom>
          <a:solidFill>
            <a:srgbClr val="5B8DEF"/>
          </a:solidFill>
          <a:ln cap="flat" cmpd="sng" w="21175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10022375" y="4423734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67"/>
              <a:buFont typeface="Cambria"/>
              <a:buNone/>
            </a:pPr>
            <a:r>
              <a:rPr b="1" i="0" lang="en-US" sz="1667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i="0" sz="1667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9382350" y="5091783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삽입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9290910" y="5282943"/>
            <a:ext cx="210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축 방향 가압,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저항 감지 시 후퇴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91" name="Google Shape;191;p10"/>
          <p:cNvCxnSpPr/>
          <p:nvPr/>
        </p:nvCxnSpPr>
        <p:spPr>
          <a:xfrm>
            <a:off x="5541870" y="5862155"/>
            <a:ext cx="5760600" cy="0"/>
          </a:xfrm>
          <a:prstGeom prst="straightConnector1">
            <a:avLst/>
          </a:prstGeom>
          <a:noFill/>
          <a:ln cap="flat" cmpd="sng" w="12700">
            <a:solidFill>
              <a:srgbClr val="3335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10"/>
          <p:cNvSpPr/>
          <p:nvPr/>
        </p:nvSpPr>
        <p:spPr>
          <a:xfrm>
            <a:off x="5541870" y="5833192"/>
            <a:ext cx="576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050"/>
              <a:buFont typeface="Calibri"/>
              <a:buNone/>
            </a:pPr>
            <a:r>
              <a:rPr i="1" lang="en-US" sz="105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저항이 임계값을 초과하면 </a:t>
            </a:r>
            <a:r>
              <a:rPr i="1" lang="en-US" sz="1050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위치 조정 </a:t>
            </a:r>
            <a:r>
              <a:rPr i="1" lang="en-US" sz="105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— </a:t>
            </a:r>
            <a:r>
              <a:rPr i="1" lang="en-US" sz="1050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서로 다른 조건에서 체결가능하도록 검</a:t>
            </a:r>
            <a:endParaRPr i="0" sz="10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868755" y="4634575"/>
            <a:ext cx="3566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잠금핀을 정해진 깊이까지 1차 삽입한 뒤 재파지하여 축 방향으로 최종 삽입합니다. 과도한 저항이 감지되면 즉시 후퇴하여 안전을 확보합니다.</a:t>
            </a:r>
            <a:endParaRPr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02  팀 구성 및 역할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팀 구성 및 역할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548640" y="129844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담당 범위는 저장소 4개 레이어와 매칭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548640" y="1920240"/>
            <a:ext cx="2606040" cy="2971800"/>
          </a:xfrm>
          <a:prstGeom prst="roundRect">
            <a:avLst>
              <a:gd fmla="val 4912" name="adj"/>
            </a:avLst>
          </a:prstGeom>
          <a:solidFill>
            <a:srgbClr val="F4F4F5"/>
          </a:solidFill>
          <a:ln>
            <a:noFill/>
          </a:ln>
          <a:effectLst>
            <a:outerShdw blurRad="88900" rotWithShape="0" algn="bl" dir="5400000" dist="381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548640" y="327355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백승민</a:t>
            </a:r>
            <a:endParaRPr i="0" sz="15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1394460" y="3657600"/>
            <a:ext cx="914400" cy="292608"/>
          </a:xfrm>
          <a:prstGeom prst="roundRect">
            <a:avLst>
              <a:gd fmla="val 50000" name="adj"/>
            </a:avLst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1394460" y="365760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팀장</a:t>
            </a:r>
            <a:endParaRPr i="0" sz="10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749808" y="4133088"/>
            <a:ext cx="220370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Git, Notion 관리, 아키텍처 설계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3374136" y="1920240"/>
            <a:ext cx="2606040" cy="2971800"/>
          </a:xfrm>
          <a:prstGeom prst="roundRect">
            <a:avLst>
              <a:gd fmla="val 4912" name="adj"/>
            </a:avLst>
          </a:prstGeom>
          <a:solidFill>
            <a:srgbClr val="F4F4F5"/>
          </a:solidFill>
          <a:ln>
            <a:noFill/>
          </a:ln>
          <a:effectLst>
            <a:outerShdw blurRad="88900" rotWithShape="0" algn="bl" dir="5400000" dist="381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3374136" y="327355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봉승현</a:t>
            </a:r>
            <a:endParaRPr i="0" sz="15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4219956" y="3657600"/>
            <a:ext cx="914400" cy="292608"/>
          </a:xfrm>
          <a:prstGeom prst="roundRect">
            <a:avLst>
              <a:gd fmla="val 50000" name="adj"/>
            </a:avLst>
          </a:prstGeom>
          <a:solidFill>
            <a:srgbClr val="E4E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4219956" y="365760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팀원</a:t>
            </a:r>
            <a:endParaRPr i="0" sz="10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3575304" y="4133088"/>
            <a:ext cx="220370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DB, Front·Backend 구현, ROS2-DB 연동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6199632" y="1920240"/>
            <a:ext cx="2606040" cy="2971800"/>
          </a:xfrm>
          <a:prstGeom prst="roundRect">
            <a:avLst>
              <a:gd fmla="val 4912" name="adj"/>
            </a:avLst>
          </a:prstGeom>
          <a:solidFill>
            <a:srgbClr val="F4F4F5"/>
          </a:solidFill>
          <a:ln>
            <a:noFill/>
          </a:ln>
          <a:effectLst>
            <a:outerShdw blurRad="88900" rotWithShape="0" algn="bl" dir="5400000" dist="381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6199632" y="327355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전제환</a:t>
            </a:r>
            <a:endParaRPr i="0" sz="15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7045452" y="3657600"/>
            <a:ext cx="914400" cy="292608"/>
          </a:xfrm>
          <a:prstGeom prst="roundRect">
            <a:avLst>
              <a:gd fmla="val 50000" name="adj"/>
            </a:avLst>
          </a:prstGeom>
          <a:solidFill>
            <a:srgbClr val="E4E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7045452" y="365760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팀원</a:t>
            </a:r>
            <a:endParaRPr i="0" sz="10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6400800" y="4133088"/>
            <a:ext cx="220370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ROS2 및 DSR 움직임 구현, ROS2-DB 연동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9025128" y="1920240"/>
            <a:ext cx="2606040" cy="2971800"/>
          </a:xfrm>
          <a:prstGeom prst="roundRect">
            <a:avLst>
              <a:gd fmla="val 4912" name="adj"/>
            </a:avLst>
          </a:prstGeom>
          <a:solidFill>
            <a:srgbClr val="F4F4F5"/>
          </a:solidFill>
          <a:ln>
            <a:noFill/>
          </a:ln>
          <a:effectLst>
            <a:outerShdw blurRad="88900" rotWithShape="0" algn="bl" dir="5400000" dist="381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9025128" y="327355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이현민</a:t>
            </a:r>
            <a:endParaRPr i="0" sz="15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9870948" y="3657600"/>
            <a:ext cx="914400" cy="292608"/>
          </a:xfrm>
          <a:prstGeom prst="roundRect">
            <a:avLst>
              <a:gd fmla="val 50000" name="adj"/>
            </a:avLst>
          </a:prstGeom>
          <a:solidFill>
            <a:srgbClr val="E4E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9870948" y="365760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팀원</a:t>
            </a:r>
            <a:endParaRPr i="0" sz="10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9226296" y="4133088"/>
            <a:ext cx="220370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Solid Works 하드웨어 설계</a:t>
            </a:r>
            <a:endParaRPr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548640" y="5166360"/>
            <a:ext cx="10652760" cy="868680"/>
          </a:xfrm>
          <a:prstGeom prst="roundRect">
            <a:avLst>
              <a:gd fmla="val 12632" name="adj"/>
            </a:avLst>
          </a:prstGeom>
          <a:solidFill>
            <a:srgbClr val="24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822960" y="5166360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이일주</a:t>
            </a:r>
            <a:endParaRPr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2148840" y="5458968"/>
            <a:ext cx="777240" cy="292608"/>
          </a:xfrm>
          <a:prstGeom prst="roundRect">
            <a:avLst>
              <a:gd fmla="val 50000" name="adj"/>
            </a:avLst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2148840" y="545896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멘토</a:t>
            </a:r>
            <a:endParaRPr i="0" sz="10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3200400" y="5166360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지원 내역 : </a:t>
            </a:r>
            <a:r>
              <a:rPr lang="en-US" sz="1150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</a:t>
            </a:r>
            <a:r>
              <a:rPr lang="en-US" sz="1150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구현</a:t>
            </a:r>
            <a:r>
              <a:rPr lang="en-US" sz="1150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 조언</a:t>
            </a:r>
            <a:endParaRPr i="0" sz="11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03  수행 절차 및 방법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사전 기획 — 요구사항 추적 체계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BR → SYS-FR → FR → TC로 이어지는 추적 체계를 먼저 세운 뒤 구현 착수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640080" y="2011680"/>
            <a:ext cx="2331720" cy="1965960"/>
          </a:xfrm>
          <a:prstGeom prst="roundRect">
            <a:avLst>
              <a:gd fmla="val 6512" name="adj"/>
            </a:avLst>
          </a:prstGeom>
          <a:solidFill>
            <a:srgbClr val="F4F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822960" y="219456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  <a:endParaRPr i="0" sz="3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822960" y="2907792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BR</a:t>
            </a:r>
            <a:endParaRPr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822960" y="329184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비즈니스 요구서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2990088" y="276606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5B8DE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3355848" y="2011680"/>
            <a:ext cx="2331720" cy="1965960"/>
          </a:xfrm>
          <a:prstGeom prst="roundRect">
            <a:avLst>
              <a:gd fmla="val 6512" name="adj"/>
            </a:avLst>
          </a:prstGeom>
          <a:solidFill>
            <a:srgbClr val="F4F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3538728" y="219456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24</a:t>
            </a:r>
            <a:endParaRPr i="0" sz="3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3538728" y="2907792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SYS-FR</a:t>
            </a:r>
            <a:endParaRPr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3538728" y="329184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 요구서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5705856" y="276606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5B8DE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6071616" y="2011680"/>
            <a:ext cx="2331720" cy="1965960"/>
          </a:xfrm>
          <a:prstGeom prst="roundRect">
            <a:avLst>
              <a:gd fmla="val 6512" name="adj"/>
            </a:avLst>
          </a:prstGeom>
          <a:solidFill>
            <a:srgbClr val="F4F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6254496" y="219456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24</a:t>
            </a:r>
            <a:endParaRPr i="0" sz="3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6254496" y="2907792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FR</a:t>
            </a:r>
            <a:endParaRPr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6254496" y="329184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기능 요구서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8421624" y="276606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5B8DE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8787384" y="2011680"/>
            <a:ext cx="2331720" cy="1965960"/>
          </a:xfrm>
          <a:prstGeom prst="roundRect">
            <a:avLst>
              <a:gd fmla="val 6512" name="adj"/>
            </a:avLst>
          </a:prstGeom>
          <a:solidFill>
            <a:srgbClr val="F4F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8970264" y="219456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15</a:t>
            </a:r>
            <a:endParaRPr i="0" sz="3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8970264" y="2907792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TC</a:t>
            </a:r>
            <a:endParaRPr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8970264" y="329184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테스트 케이스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640080" y="4343400"/>
            <a:ext cx="10881360" cy="1691640"/>
          </a:xfrm>
          <a:prstGeom prst="roundRect">
            <a:avLst>
              <a:gd fmla="val 7568" name="adj"/>
            </a:avLst>
          </a:prstGeom>
          <a:solidFill>
            <a:srgbClr val="24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914400" y="4553712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4개 Actor 기반 인터페이스 설계</a:t>
            </a:r>
            <a:endParaRPr i="0" sz="14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914400" y="4956048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현장 관리자 · 협동로봇 작업 관리 노드 · DB · 협동로봇 제어 시스템 — 4개 Actor로 시스템을 나누고,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Actor 간 인터페이스(ROS2 Action/Service/Topic, DB API)를 먼저 문서로 확정한 뒤 구현에 착수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03  수행 절차 및 방법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548640" y="7772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구현 순서 — 계약 우선 설계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통신 규격을 먼저 정의하고, 로봇 제어 → 중계 → 백엔드 순으로 구현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548640" y="1965960"/>
            <a:ext cx="10881360" cy="822960"/>
          </a:xfrm>
          <a:prstGeom prst="roundRect">
            <a:avLst>
              <a:gd fmla="val 13333" name="adj"/>
            </a:avLst>
          </a:prstGeom>
          <a:solidFill>
            <a:srgbClr val="F4F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777240" y="2103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i="0" sz="1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1600200" y="196596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solar_panel_interface</a:t>
            </a:r>
            <a:endParaRPr i="0" sz="14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5029200" y="1965960"/>
            <a:ext cx="6263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Action/메시지/</a:t>
            </a:r>
            <a:r>
              <a:rPr lang="en-US" sz="120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</a:t>
            </a:r>
            <a:r>
              <a:rPr i="0" lang="en-US" sz="12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 규격 정의 — 계약 우선 설계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548640" y="2898648"/>
            <a:ext cx="10881360" cy="822960"/>
          </a:xfrm>
          <a:prstGeom prst="roundRect">
            <a:avLst>
              <a:gd fmla="val 13333" name="adj"/>
            </a:avLst>
          </a:prstGeom>
          <a:solidFill>
            <a:srgbClr val="F4F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777240" y="3035808"/>
            <a:ext cx="548640" cy="54864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777240" y="30358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i="0" sz="1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1600200" y="2898648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solar_panel_robot</a:t>
            </a:r>
            <a:endParaRPr i="0" sz="14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5029200" y="2898648"/>
            <a:ext cx="6263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모션 → 힘 제어 → 공정 시나리오 → Action Server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48640" y="3831336"/>
            <a:ext cx="10881360" cy="822960"/>
          </a:xfrm>
          <a:prstGeom prst="roundRect">
            <a:avLst>
              <a:gd fmla="val 13333" name="adj"/>
            </a:avLst>
          </a:prstGeom>
          <a:solidFill>
            <a:srgbClr val="F4F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777240" y="3968496"/>
            <a:ext cx="548640" cy="54864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777240" y="396849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i="0" sz="1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1600200" y="3831336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ros2_bridge</a:t>
            </a:r>
            <a:endParaRPr i="0" sz="14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5029200" y="3831336"/>
            <a:ext cx="6263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HTTP 큐잉 → Action Goal 순차 전달 → 결과 콜백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548640" y="4764024"/>
            <a:ext cx="10881360" cy="822960"/>
          </a:xfrm>
          <a:prstGeom prst="roundRect">
            <a:avLst>
              <a:gd fmla="val 13333" name="adj"/>
            </a:avLst>
          </a:prstGeom>
          <a:solidFill>
            <a:srgbClr val="F4F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777240" y="4901184"/>
            <a:ext cx="548640" cy="54864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777240" y="490118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i="0" sz="1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1600200" y="4764024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web_app</a:t>
            </a:r>
            <a:endParaRPr i="0" sz="14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5029200" y="4764024"/>
            <a:ext cx="6263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Work Order/</a:t>
            </a:r>
            <a:r>
              <a:rPr lang="en-US" sz="120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History</a:t>
            </a:r>
            <a:r>
              <a:rPr i="0" lang="en-US" sz="12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 관리 + PostgreSQL(9테이블) + 대시보드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0" name="Google Shape;300;p14"/>
          <p:cNvGrpSpPr/>
          <p:nvPr/>
        </p:nvGrpSpPr>
        <p:grpSpPr>
          <a:xfrm>
            <a:off x="3995738" y="1428750"/>
            <a:ext cx="7439100" cy="4333950"/>
            <a:chOff x="3995738" y="1428750"/>
            <a:chExt cx="7439100" cy="4333950"/>
          </a:xfrm>
        </p:grpSpPr>
        <p:cxnSp>
          <p:nvCxnSpPr>
            <p:cNvPr id="301" name="Google Shape;301;p14"/>
            <p:cNvCxnSpPr/>
            <p:nvPr/>
          </p:nvCxnSpPr>
          <p:spPr>
            <a:xfrm>
              <a:off x="4000500" y="1714500"/>
              <a:ext cx="74295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302" name="Google Shape;302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95738" y="1714500"/>
              <a:ext cx="9600" cy="404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53113" y="1714500"/>
              <a:ext cx="9600" cy="404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10488" y="1714500"/>
              <a:ext cx="9600" cy="404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67863" y="1714500"/>
              <a:ext cx="9600" cy="404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425238" y="1714500"/>
              <a:ext cx="9600" cy="404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14"/>
            <p:cNvSpPr txBox="1"/>
            <p:nvPr/>
          </p:nvSpPr>
          <p:spPr>
            <a:xfrm>
              <a:off x="4000500" y="1428750"/>
              <a:ext cx="1857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08/14 ~ 08/18</a:t>
              </a:r>
              <a:endParaRPr b="1" sz="10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08" name="Google Shape;308;p14"/>
            <p:cNvSpPr txBox="1"/>
            <p:nvPr/>
          </p:nvSpPr>
          <p:spPr>
            <a:xfrm>
              <a:off x="5857875" y="1428750"/>
              <a:ext cx="1857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08/18 ~ 08/21</a:t>
              </a:r>
              <a:endParaRPr b="1" sz="10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09" name="Google Shape;309;p14"/>
            <p:cNvSpPr txBox="1"/>
            <p:nvPr/>
          </p:nvSpPr>
          <p:spPr>
            <a:xfrm>
              <a:off x="7715250" y="1428750"/>
              <a:ext cx="1857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08/21 ~ 08/26</a:t>
              </a:r>
              <a:endParaRPr b="1" sz="10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10" name="Google Shape;310;p14"/>
            <p:cNvSpPr txBox="1"/>
            <p:nvPr/>
          </p:nvSpPr>
          <p:spPr>
            <a:xfrm>
              <a:off x="9572625" y="1428750"/>
              <a:ext cx="1857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08/26 ~ 08/28</a:t>
              </a:r>
              <a:endParaRPr b="1" sz="10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11" name="Google Shape;311;p14"/>
          <p:cNvGrpSpPr/>
          <p:nvPr/>
        </p:nvGrpSpPr>
        <p:grpSpPr>
          <a:xfrm>
            <a:off x="762000" y="1857375"/>
            <a:ext cx="10668000" cy="333375"/>
            <a:chOff x="762000" y="1857375"/>
            <a:chExt cx="10668000" cy="333375"/>
          </a:xfrm>
        </p:grpSpPr>
        <p:cxnSp>
          <p:nvCxnSpPr>
            <p:cNvPr id="312" name="Google Shape;312;p14"/>
            <p:cNvCxnSpPr/>
            <p:nvPr/>
          </p:nvCxnSpPr>
          <p:spPr>
            <a:xfrm>
              <a:off x="762000" y="2190750"/>
              <a:ext cx="1066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3" name="Google Shape;313;p14"/>
            <p:cNvSpPr txBox="1"/>
            <p:nvPr/>
          </p:nvSpPr>
          <p:spPr>
            <a:xfrm>
              <a:off x="762000" y="185737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341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1. 요구사항 분석 및 정의</a:t>
              </a:r>
              <a:endParaRPr b="0" sz="10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4000500" y="1924050"/>
              <a:ext cx="1846200" cy="152400"/>
            </a:xfrm>
            <a:prstGeom prst="roundRect">
              <a:avLst>
                <a:gd fmla="val 50000" name="adj"/>
              </a:avLst>
            </a:prstGeom>
            <a:solidFill>
              <a:srgbClr val="475569">
                <a:alpha val="8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4"/>
            <p:cNvSpPr txBox="1"/>
            <p:nvPr/>
          </p:nvSpPr>
          <p:spPr>
            <a:xfrm>
              <a:off x="5961603" y="1857375"/>
              <a:ext cx="476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79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요구사항 추적 체계 정의 (HW/SW 사양 식별)</a:t>
              </a:r>
              <a:endParaRPr b="0" sz="879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16" name="Google Shape;316;p14"/>
          <p:cNvGrpSpPr/>
          <p:nvPr/>
        </p:nvGrpSpPr>
        <p:grpSpPr>
          <a:xfrm>
            <a:off x="762000" y="2333625"/>
            <a:ext cx="11182877" cy="333375"/>
            <a:chOff x="762000" y="2333625"/>
            <a:chExt cx="11182877" cy="333375"/>
          </a:xfrm>
        </p:grpSpPr>
        <p:cxnSp>
          <p:nvCxnSpPr>
            <p:cNvPr id="317" name="Google Shape;317;p14"/>
            <p:cNvCxnSpPr/>
            <p:nvPr/>
          </p:nvCxnSpPr>
          <p:spPr>
            <a:xfrm>
              <a:off x="762000" y="2667000"/>
              <a:ext cx="1066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8" name="Google Shape;318;p14"/>
            <p:cNvSpPr txBox="1"/>
            <p:nvPr/>
          </p:nvSpPr>
          <p:spPr>
            <a:xfrm>
              <a:off x="762000" y="233362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341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2. 시스템 아키텍처 설계</a:t>
              </a:r>
              <a:endParaRPr b="0" sz="10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4572000" y="2400300"/>
              <a:ext cx="2507100" cy="152400"/>
            </a:xfrm>
            <a:prstGeom prst="roundRect">
              <a:avLst>
                <a:gd fmla="val 50000" name="adj"/>
              </a:avLst>
            </a:prstGeom>
            <a:solidFill>
              <a:srgbClr val="64748B">
                <a:alpha val="8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4"/>
            <p:cNvSpPr txBox="1"/>
            <p:nvPr/>
          </p:nvSpPr>
          <p:spPr>
            <a:xfrm>
              <a:off x="7182377" y="2333625"/>
              <a:ext cx="476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79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전체 제어 루프 및 ROS2 아키텍처 수립</a:t>
              </a:r>
              <a:endParaRPr b="0" sz="879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21" name="Google Shape;321;p14"/>
          <p:cNvGrpSpPr/>
          <p:nvPr/>
        </p:nvGrpSpPr>
        <p:grpSpPr>
          <a:xfrm>
            <a:off x="762000" y="2809875"/>
            <a:ext cx="10668000" cy="333375"/>
            <a:chOff x="762000" y="2809875"/>
            <a:chExt cx="10668000" cy="333375"/>
          </a:xfrm>
        </p:grpSpPr>
        <p:cxnSp>
          <p:nvCxnSpPr>
            <p:cNvPr id="322" name="Google Shape;322;p14"/>
            <p:cNvCxnSpPr/>
            <p:nvPr/>
          </p:nvCxnSpPr>
          <p:spPr>
            <a:xfrm>
              <a:off x="762000" y="3143250"/>
              <a:ext cx="1066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3" name="Google Shape;323;p14"/>
            <p:cNvSpPr txBox="1"/>
            <p:nvPr/>
          </p:nvSpPr>
          <p:spPr>
            <a:xfrm>
              <a:off x="762000" y="280987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341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3. 데이터베이스 스키마 정의</a:t>
              </a:r>
              <a:endParaRPr b="0" sz="10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24" name="Google Shape;324;p14"/>
            <p:cNvSpPr/>
            <p:nvPr/>
          </p:nvSpPr>
          <p:spPr>
            <a:xfrm>
              <a:off x="5330500" y="2876550"/>
              <a:ext cx="2380800" cy="152400"/>
            </a:xfrm>
            <a:prstGeom prst="roundRect">
              <a:avLst>
                <a:gd fmla="val 50000" name="adj"/>
              </a:avLst>
            </a:prstGeom>
            <a:solidFill>
              <a:srgbClr val="94A3B8">
                <a:alpha val="8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4"/>
            <p:cNvSpPr txBox="1"/>
            <p:nvPr/>
          </p:nvSpPr>
          <p:spPr>
            <a:xfrm>
              <a:off x="7823142" y="2809875"/>
              <a:ext cx="3464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79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PostgreSQL 기반 공정 이력 기록 테이블 설계</a:t>
              </a:r>
              <a:endParaRPr b="0" sz="879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26" name="Google Shape;326;p14"/>
          <p:cNvGrpSpPr/>
          <p:nvPr/>
        </p:nvGrpSpPr>
        <p:grpSpPr>
          <a:xfrm>
            <a:off x="762000" y="3286125"/>
            <a:ext cx="10668000" cy="333375"/>
            <a:chOff x="762000" y="3286125"/>
            <a:chExt cx="10668000" cy="333375"/>
          </a:xfrm>
        </p:grpSpPr>
        <p:cxnSp>
          <p:nvCxnSpPr>
            <p:cNvPr id="327" name="Google Shape;327;p14"/>
            <p:cNvCxnSpPr/>
            <p:nvPr/>
          </p:nvCxnSpPr>
          <p:spPr>
            <a:xfrm>
              <a:off x="762000" y="3619500"/>
              <a:ext cx="1066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8" name="Google Shape;328;p14"/>
            <p:cNvSpPr txBox="1"/>
            <p:nvPr/>
          </p:nvSpPr>
          <p:spPr>
            <a:xfrm>
              <a:off x="762000" y="328612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341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4. 센서 통신 및 제어 모듈 개발</a:t>
              </a:r>
              <a:endParaRPr b="0" sz="10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5651225" y="3352800"/>
              <a:ext cx="2743200" cy="152400"/>
            </a:xfrm>
            <a:prstGeom prst="roundRect">
              <a:avLst>
                <a:gd fmla="val 50000" name="adj"/>
              </a:avLst>
            </a:prstGeom>
            <a:solidFill>
              <a:srgbClr val="818CF8">
                <a:alpha val="8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4"/>
            <p:cNvSpPr txBox="1"/>
            <p:nvPr/>
          </p:nvSpPr>
          <p:spPr>
            <a:xfrm>
              <a:off x="8513837" y="328612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79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내장 F/T 센서 드라이버 및 이더넷 연결 통신 구현</a:t>
              </a:r>
              <a:endParaRPr b="0" sz="879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31" name="Google Shape;331;p14"/>
          <p:cNvGrpSpPr/>
          <p:nvPr/>
        </p:nvGrpSpPr>
        <p:grpSpPr>
          <a:xfrm>
            <a:off x="762000" y="3762375"/>
            <a:ext cx="11068171" cy="333375"/>
            <a:chOff x="762000" y="3762375"/>
            <a:chExt cx="11068171" cy="333375"/>
          </a:xfrm>
        </p:grpSpPr>
        <p:cxnSp>
          <p:nvCxnSpPr>
            <p:cNvPr id="332" name="Google Shape;332;p14"/>
            <p:cNvCxnSpPr/>
            <p:nvPr/>
          </p:nvCxnSpPr>
          <p:spPr>
            <a:xfrm>
              <a:off x="762000" y="4095750"/>
              <a:ext cx="1066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3" name="Google Shape;333;p14"/>
            <p:cNvSpPr txBox="1"/>
            <p:nvPr/>
          </p:nvSpPr>
          <p:spPr>
            <a:xfrm>
              <a:off x="762000" y="376237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341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5. 힘 제어 알고리즘 구현</a:t>
              </a:r>
              <a:endParaRPr b="0" sz="10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6035050" y="3829050"/>
              <a:ext cx="3772500" cy="152400"/>
            </a:xfrm>
            <a:prstGeom prst="roundRect">
              <a:avLst>
                <a:gd fmla="val 50000" name="adj"/>
              </a:avLst>
            </a:prstGeom>
            <a:solidFill>
              <a:srgbClr val="5B8DEF">
                <a:alpha val="8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4"/>
            <p:cNvSpPr txBox="1"/>
            <p:nvPr/>
          </p:nvSpPr>
          <p:spPr>
            <a:xfrm>
              <a:off x="9920971" y="3762375"/>
              <a:ext cx="1909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79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잠금핀 2단계 정밀 삽입 힘 제어 알고리즘</a:t>
              </a:r>
              <a:endParaRPr b="0" sz="879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36" name="Google Shape;336;p14"/>
          <p:cNvGrpSpPr/>
          <p:nvPr/>
        </p:nvGrpSpPr>
        <p:grpSpPr>
          <a:xfrm>
            <a:off x="762000" y="4238625"/>
            <a:ext cx="11440458" cy="333375"/>
            <a:chOff x="762000" y="4238625"/>
            <a:chExt cx="11440458" cy="333375"/>
          </a:xfrm>
        </p:grpSpPr>
        <p:cxnSp>
          <p:nvCxnSpPr>
            <p:cNvPr id="337" name="Google Shape;337;p14"/>
            <p:cNvCxnSpPr/>
            <p:nvPr/>
          </p:nvCxnSpPr>
          <p:spPr>
            <a:xfrm>
              <a:off x="762000" y="4572000"/>
              <a:ext cx="1066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8" name="Google Shape;338;p14"/>
            <p:cNvSpPr txBox="1"/>
            <p:nvPr/>
          </p:nvSpPr>
          <p:spPr>
            <a:xfrm>
              <a:off x="762000" y="423862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341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6. 실측 좌표</a:t>
              </a:r>
              <a:r>
                <a:rPr lang="en-US" sz="1050">
                  <a:solidFill>
                    <a:srgbClr val="3341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기준</a:t>
              </a:r>
              <a:r>
                <a:rPr b="0" lang="en-US" sz="1050">
                  <a:solidFill>
                    <a:srgbClr val="3341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알고리즘 테스</a:t>
              </a:r>
              <a:r>
                <a:rPr lang="en-US" sz="1050">
                  <a:solidFill>
                    <a:srgbClr val="3341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트</a:t>
              </a:r>
              <a:endParaRPr b="0" sz="10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7715250" y="4305300"/>
              <a:ext cx="2587500" cy="152400"/>
            </a:xfrm>
            <a:prstGeom prst="roundRect">
              <a:avLst>
                <a:gd fmla="val 50000" name="adj"/>
              </a:avLst>
            </a:prstGeom>
            <a:solidFill>
              <a:srgbClr val="68D391">
                <a:alpha val="8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4"/>
            <p:cNvSpPr txBox="1"/>
            <p:nvPr/>
          </p:nvSpPr>
          <p:spPr>
            <a:xfrm>
              <a:off x="10392858" y="4238625"/>
              <a:ext cx="1809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79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물건들 좌표</a:t>
              </a:r>
              <a:r>
                <a:rPr b="0" lang="en-US" sz="879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실측 및 매핑 검증</a:t>
              </a:r>
              <a:endParaRPr b="0" sz="879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41" name="Google Shape;341;p14"/>
          <p:cNvGrpSpPr/>
          <p:nvPr/>
        </p:nvGrpSpPr>
        <p:grpSpPr>
          <a:xfrm>
            <a:off x="762000" y="4714875"/>
            <a:ext cx="10668000" cy="333375"/>
            <a:chOff x="762000" y="4714875"/>
            <a:chExt cx="10668000" cy="333375"/>
          </a:xfrm>
        </p:grpSpPr>
        <p:cxnSp>
          <p:nvCxnSpPr>
            <p:cNvPr id="342" name="Google Shape;342;p14"/>
            <p:cNvCxnSpPr/>
            <p:nvPr/>
          </p:nvCxnSpPr>
          <p:spPr>
            <a:xfrm>
              <a:off x="762000" y="5048250"/>
              <a:ext cx="1066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3" name="Google Shape;343;p14"/>
            <p:cNvSpPr txBox="1"/>
            <p:nvPr/>
          </p:nvSpPr>
          <p:spPr>
            <a:xfrm>
              <a:off x="762000" y="471487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341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7. 통합 실기 테스트</a:t>
              </a:r>
              <a:endParaRPr b="0" sz="10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44" name="Google Shape;344;p14"/>
            <p:cNvSpPr/>
            <p:nvPr/>
          </p:nvSpPr>
          <p:spPr>
            <a:xfrm>
              <a:off x="8712075" y="4781550"/>
              <a:ext cx="1860600" cy="152400"/>
            </a:xfrm>
            <a:prstGeom prst="roundRect">
              <a:avLst>
                <a:gd fmla="val 50000" name="adj"/>
              </a:avLst>
            </a:prstGeom>
            <a:solidFill>
              <a:srgbClr val="34D399">
                <a:alpha val="8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4"/>
            <p:cNvSpPr txBox="1"/>
            <p:nvPr/>
          </p:nvSpPr>
          <p:spPr>
            <a:xfrm>
              <a:off x="10668000" y="471487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79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조립 전 과정 완주</a:t>
              </a:r>
              <a:endParaRPr b="0" sz="879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46" name="Google Shape;346;p14"/>
          <p:cNvGrpSpPr/>
          <p:nvPr/>
        </p:nvGrpSpPr>
        <p:grpSpPr>
          <a:xfrm>
            <a:off x="762000" y="6334125"/>
            <a:ext cx="10668000" cy="285900"/>
            <a:chOff x="762000" y="6334125"/>
            <a:chExt cx="10668000" cy="285900"/>
          </a:xfrm>
        </p:grpSpPr>
        <p:sp>
          <p:nvSpPr>
            <p:cNvPr id="347" name="Google Shape;347;p14"/>
            <p:cNvSpPr txBox="1"/>
            <p:nvPr/>
          </p:nvSpPr>
          <p:spPr>
            <a:xfrm>
              <a:off x="762000" y="6334125"/>
              <a:ext cx="7315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두산로보틱스 M0609 · 태양광 패널 자동 설치 시스템</a:t>
              </a:r>
              <a:endParaRPr sz="85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48" name="Google Shape;348;p14"/>
            <p:cNvSpPr txBox="1"/>
            <p:nvPr/>
          </p:nvSpPr>
          <p:spPr>
            <a:xfrm>
              <a:off x="10972800" y="6334125"/>
              <a:ext cx="45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09</a:t>
              </a:r>
              <a:endParaRPr sz="85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349" name="Google Shape;349;p14"/>
          <p:cNvSpPr/>
          <p:nvPr/>
        </p:nvSpPr>
        <p:spPr>
          <a:xfrm>
            <a:off x="761996" y="5762695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총 개발기간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3596636" y="5762695"/>
            <a:ext cx="768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[총 2주]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548640" y="38404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03  수행 절차 및 방법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548640" y="77724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일정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353" name="Google Shape;353;p14"/>
          <p:cNvGrpSpPr/>
          <p:nvPr/>
        </p:nvGrpSpPr>
        <p:grpSpPr>
          <a:xfrm>
            <a:off x="762000" y="5191125"/>
            <a:ext cx="10668150" cy="333375"/>
            <a:chOff x="762000" y="5191125"/>
            <a:chExt cx="10668150" cy="333375"/>
          </a:xfrm>
        </p:grpSpPr>
        <p:cxnSp>
          <p:nvCxnSpPr>
            <p:cNvPr id="354" name="Google Shape;354;p14"/>
            <p:cNvCxnSpPr/>
            <p:nvPr/>
          </p:nvCxnSpPr>
          <p:spPr>
            <a:xfrm>
              <a:off x="762000" y="5524500"/>
              <a:ext cx="10668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5" name="Google Shape;355;p14"/>
            <p:cNvSpPr txBox="1"/>
            <p:nvPr/>
          </p:nvSpPr>
          <p:spPr>
            <a:xfrm>
              <a:off x="762000" y="519112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341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8. 데이터 분석 및 최종 보고</a:t>
              </a:r>
              <a:endParaRPr b="0" sz="10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9556075" y="5257800"/>
              <a:ext cx="1778700" cy="152400"/>
            </a:xfrm>
            <a:prstGeom prst="roundRect">
              <a:avLst>
                <a:gd fmla="val 50000" name="adj"/>
              </a:avLst>
            </a:prstGeom>
            <a:solidFill>
              <a:srgbClr val="059669">
                <a:alpha val="8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4"/>
            <p:cNvSpPr txBox="1"/>
            <p:nvPr/>
          </p:nvSpPr>
          <p:spPr>
            <a:xfrm>
              <a:off x="11334750" y="5191125"/>
              <a:ext cx="9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79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-</a:t>
              </a:r>
              <a:endParaRPr b="0" sz="879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D22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04  수행 경과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 아키텍처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548640" y="129844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Dashboard부터 로봇 하드웨어까지 4계층 파이프라인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1280160" y="1965960"/>
            <a:ext cx="7680960" cy="658368"/>
          </a:xfrm>
          <a:prstGeom prst="roundRect">
            <a:avLst>
              <a:gd fmla="val 13889" name="adj"/>
            </a:avLst>
          </a:prstGeom>
          <a:solidFill>
            <a:srgbClr val="5B8DEF"/>
          </a:solidFill>
          <a:ln cap="flat" cmpd="sng" w="12700">
            <a:solidFill>
              <a:srgbClr val="333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1554480" y="1965960"/>
            <a:ext cx="3226003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Dashboard</a:t>
            </a:r>
            <a:endParaRPr i="0" sz="13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4659782" y="1965960"/>
            <a:ext cx="414771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3FE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F0F3FE"/>
                </a:solidFill>
                <a:latin typeface="Noto Sans KR"/>
                <a:ea typeface="Noto Sans KR"/>
                <a:cs typeface="Noto Sans KR"/>
                <a:sym typeface="Noto Sans KR"/>
              </a:rPr>
              <a:t>HTML / JS — Work Order 조회·실행</a:t>
            </a:r>
            <a:endParaRPr i="0" sz="10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4937760" y="26243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8DEF"/>
                </a:solidFill>
                <a:latin typeface="Calibri"/>
                <a:ea typeface="Calibri"/>
                <a:cs typeface="Calibri"/>
                <a:sym typeface="Calibri"/>
              </a:rPr>
              <a:t>▾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1280160" y="2825496"/>
            <a:ext cx="7680960" cy="658368"/>
          </a:xfrm>
          <a:prstGeom prst="roundRect">
            <a:avLst>
              <a:gd fmla="val 13889" name="adj"/>
            </a:avLst>
          </a:prstGeom>
          <a:solidFill>
            <a:srgbClr val="24262D"/>
          </a:solidFill>
          <a:ln cap="flat" cmpd="sng" w="12700">
            <a:solidFill>
              <a:srgbClr val="333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1554480" y="2825496"/>
            <a:ext cx="3226003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Flask Backend (web_app)</a:t>
            </a:r>
            <a:endParaRPr i="0" sz="13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4659782" y="2825496"/>
            <a:ext cx="414771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REST API + SQLAlchemy → PostgreSQL</a:t>
            </a:r>
            <a:endParaRPr i="0" sz="10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1280160" y="3685032"/>
            <a:ext cx="7680960" cy="658368"/>
          </a:xfrm>
          <a:prstGeom prst="roundRect">
            <a:avLst>
              <a:gd fmla="val 13889" name="adj"/>
            </a:avLst>
          </a:prstGeom>
          <a:solidFill>
            <a:srgbClr val="24262D"/>
          </a:solidFill>
          <a:ln cap="flat" cmpd="sng" w="12700">
            <a:solidFill>
              <a:srgbClr val="333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1554480" y="3685032"/>
            <a:ext cx="3226003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ROS2 Bridge</a:t>
            </a:r>
            <a:endParaRPr i="0" sz="13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4659782" y="3685032"/>
            <a:ext cx="4147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HTTP ↔ ROS2 Action 변환, Feedback/Result 콜백</a:t>
            </a:r>
            <a:endParaRPr i="0" sz="10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1280160" y="4544568"/>
            <a:ext cx="7680960" cy="658368"/>
          </a:xfrm>
          <a:prstGeom prst="roundRect">
            <a:avLst>
              <a:gd fmla="val 13889" name="adj"/>
            </a:avLst>
          </a:prstGeom>
          <a:solidFill>
            <a:srgbClr val="24262D"/>
          </a:solidFill>
          <a:ln cap="flat" cmpd="sng" w="12700">
            <a:solidFill>
              <a:srgbClr val="333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1554480" y="4544568"/>
            <a:ext cx="3226003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Robot Control Node (Controller)</a:t>
            </a:r>
            <a:endParaRPr i="0" sz="13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4659782" y="4544568"/>
            <a:ext cx="414771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Action Server — Operation 판단 및 실행 위임</a:t>
            </a:r>
            <a:endParaRPr i="0" sz="10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4937760" y="5202936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8DEF"/>
                </a:solidFill>
                <a:latin typeface="Calibri"/>
                <a:ea typeface="Calibri"/>
                <a:cs typeface="Calibri"/>
                <a:sym typeface="Calibri"/>
              </a:rPr>
              <a:t>▾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1280160" y="5404104"/>
            <a:ext cx="7680960" cy="658368"/>
          </a:xfrm>
          <a:prstGeom prst="roundRect">
            <a:avLst>
              <a:gd fmla="val 13889" name="adj"/>
            </a:avLst>
          </a:prstGeom>
          <a:solidFill>
            <a:srgbClr val="5B8DEF"/>
          </a:solidFill>
          <a:ln cap="flat" cmpd="sng" w="12700">
            <a:solidFill>
              <a:srgbClr val="333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1554480" y="5404104"/>
            <a:ext cx="3226003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Doosan M0609 + Gripper + F/T Sensor</a:t>
            </a:r>
            <a:endParaRPr i="0" sz="13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4659782" y="5404104"/>
            <a:ext cx="414771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3FE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F0F3FE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조립 동작 수행</a:t>
            </a:r>
            <a:endParaRPr i="0" sz="10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7BAC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4" name="Google Shape;384;p15"/>
          <p:cNvGrpSpPr/>
          <p:nvPr/>
        </p:nvGrpSpPr>
        <p:grpSpPr>
          <a:xfrm>
            <a:off x="4937760" y="3472748"/>
            <a:ext cx="365760" cy="231907"/>
            <a:chOff x="4937760" y="3453125"/>
            <a:chExt cx="365760" cy="231907"/>
          </a:xfrm>
        </p:grpSpPr>
        <p:sp>
          <p:nvSpPr>
            <p:cNvPr id="385" name="Google Shape;385;p15"/>
            <p:cNvSpPr/>
            <p:nvPr/>
          </p:nvSpPr>
          <p:spPr>
            <a:xfrm>
              <a:off x="4937760" y="3483864"/>
              <a:ext cx="365760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5B8DEF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5B8DEF"/>
                  </a:solidFill>
                  <a:latin typeface="Calibri"/>
                  <a:ea typeface="Calibri"/>
                  <a:cs typeface="Calibri"/>
                  <a:sym typeface="Calibri"/>
                </a:rPr>
                <a:t>▾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5"/>
            <p:cNvSpPr/>
            <p:nvPr/>
          </p:nvSpPr>
          <p:spPr>
            <a:xfrm rot="10800000">
              <a:off x="4937810" y="3453125"/>
              <a:ext cx="3657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5B8DEF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5B8DEF"/>
                  </a:solidFill>
                  <a:latin typeface="Calibri"/>
                  <a:ea typeface="Calibri"/>
                  <a:cs typeface="Calibri"/>
                  <a:sym typeface="Calibri"/>
                </a:rPr>
                <a:t>▾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15"/>
          <p:cNvGrpSpPr/>
          <p:nvPr/>
        </p:nvGrpSpPr>
        <p:grpSpPr>
          <a:xfrm>
            <a:off x="4937761" y="4327973"/>
            <a:ext cx="365750" cy="232039"/>
            <a:chOff x="4937760" y="3453125"/>
            <a:chExt cx="365750" cy="232039"/>
          </a:xfrm>
        </p:grpSpPr>
        <p:sp>
          <p:nvSpPr>
            <p:cNvPr id="388" name="Google Shape;388;p15"/>
            <p:cNvSpPr/>
            <p:nvPr/>
          </p:nvSpPr>
          <p:spPr>
            <a:xfrm>
              <a:off x="4937760" y="3483864"/>
              <a:ext cx="3657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5B8DEF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5B8DEF"/>
                  </a:solidFill>
                  <a:latin typeface="Calibri"/>
                  <a:ea typeface="Calibri"/>
                  <a:cs typeface="Calibri"/>
                  <a:sym typeface="Calibri"/>
                </a:rPr>
                <a:t>▾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5"/>
            <p:cNvSpPr/>
            <p:nvPr/>
          </p:nvSpPr>
          <p:spPr>
            <a:xfrm rot="10800000">
              <a:off x="4937810" y="3453125"/>
              <a:ext cx="3657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5B8DEF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5B8DEF"/>
                  </a:solidFill>
                  <a:latin typeface="Calibri"/>
                  <a:ea typeface="Calibri"/>
                  <a:cs typeface="Calibri"/>
                  <a:sym typeface="Calibri"/>
                </a:rPr>
                <a:t>▾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0" name="Google Shape;390;p15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04  수행 경과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레이어별 구현 결과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548640" y="1783080"/>
            <a:ext cx="10881360" cy="804672"/>
          </a:xfrm>
          <a:prstGeom prst="roundRect">
            <a:avLst>
              <a:gd fmla="val 11364" name="adj"/>
            </a:avLst>
          </a:prstGeom>
          <a:solidFill>
            <a:srgbClr val="F4F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6"/>
          <p:cNvSpPr/>
          <p:nvPr/>
        </p:nvSpPr>
        <p:spPr>
          <a:xfrm>
            <a:off x="777240" y="2084832"/>
            <a:ext cx="201168" cy="201168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6"/>
          <p:cNvSpPr/>
          <p:nvPr/>
        </p:nvSpPr>
        <p:spPr>
          <a:xfrm>
            <a:off x="1143000" y="1783080"/>
            <a:ext cx="29260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solar_panel_interface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4114800" y="1783075"/>
            <a:ext cx="67659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ExecuteOperation.action · Parameter.msg · SystemEvent.msg </a:t>
            </a:r>
            <a:r>
              <a:rPr lang="en-US" sz="110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· RecoverRobot.srv · StopOperation.srv </a:t>
            </a:r>
            <a:r>
              <a:rPr i="0" lang="en-US" sz="11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— 통신 규격 정의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548640" y="2715768"/>
            <a:ext cx="10881360" cy="804672"/>
          </a:xfrm>
          <a:prstGeom prst="roundRect">
            <a:avLst>
              <a:gd fmla="val 11364" name="adj"/>
            </a:avLst>
          </a:prstGeom>
          <a:solidFill>
            <a:srgbClr val="F4F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>
            <a:off x="777240" y="3017520"/>
            <a:ext cx="201168" cy="201168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6"/>
          <p:cNvSpPr/>
          <p:nvPr/>
        </p:nvSpPr>
        <p:spPr>
          <a:xfrm>
            <a:off x="1143000" y="2715768"/>
            <a:ext cx="29260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solar_panel_robot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4114800" y="2715768"/>
            <a:ext cx="7178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robot_motion.py · force_control.py · solar_motion.py · controller_node.py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548640" y="3648456"/>
            <a:ext cx="10881360" cy="804672"/>
          </a:xfrm>
          <a:prstGeom prst="roundRect">
            <a:avLst>
              <a:gd fmla="val 11364" name="adj"/>
            </a:avLst>
          </a:prstGeom>
          <a:solidFill>
            <a:srgbClr val="F4F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6"/>
          <p:cNvSpPr/>
          <p:nvPr/>
        </p:nvSpPr>
        <p:spPr>
          <a:xfrm>
            <a:off x="777240" y="3950208"/>
            <a:ext cx="201168" cy="201168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1143000" y="3648456"/>
            <a:ext cx="29260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ros2_bridge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4114800" y="3648456"/>
            <a:ext cx="7178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Flask(8001) + ActionClient 단일 프로세스, Operation 큐잉·순차 전송, Feedback/Result 콜백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548640" y="4581144"/>
            <a:ext cx="10881360" cy="804672"/>
          </a:xfrm>
          <a:prstGeom prst="roundRect">
            <a:avLst>
              <a:gd fmla="val 11364" name="adj"/>
            </a:avLst>
          </a:prstGeom>
          <a:solidFill>
            <a:srgbClr val="F4F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6"/>
          <p:cNvSpPr/>
          <p:nvPr/>
        </p:nvSpPr>
        <p:spPr>
          <a:xfrm>
            <a:off x="777240" y="4882896"/>
            <a:ext cx="201168" cy="201168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1143000" y="4581144"/>
            <a:ext cx="29260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web_app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4114800" y="4581144"/>
            <a:ext cx="7178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Work Order/Recipe/실행 이력 관리 + PostgreSQL 9테이블 + 대시보드(5000)</a:t>
            </a:r>
            <a:endParaRPr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7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04  수행 경과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결과 제시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548640" y="129844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데모 캡처 및 측정 결과를 아래 영역에 삽입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548640" y="1828800"/>
            <a:ext cx="5349240" cy="2148840"/>
          </a:xfrm>
          <a:prstGeom prst="roundRect">
            <a:avLst>
              <a:gd fmla="val 5106" name="adj"/>
            </a:avLst>
          </a:prstGeom>
          <a:solidFill>
            <a:srgbClr val="F4F4F5"/>
          </a:solidFill>
          <a:ln cap="flat" cmpd="sng" w="15875">
            <a:solidFill>
              <a:srgbClr val="D8D9D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7"/>
          <p:cNvSpPr/>
          <p:nvPr/>
        </p:nvSpPr>
        <p:spPr>
          <a:xfrm>
            <a:off x="6263640" y="1828800"/>
            <a:ext cx="5349240" cy="2148840"/>
          </a:xfrm>
          <a:prstGeom prst="roundRect">
            <a:avLst>
              <a:gd fmla="val 5106" name="adj"/>
            </a:avLst>
          </a:prstGeom>
          <a:solidFill>
            <a:srgbClr val="F4F4F5"/>
          </a:solidFill>
          <a:ln cap="flat" cmpd="sng" w="15875">
            <a:solidFill>
              <a:srgbClr val="D8D9D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7"/>
          <p:cNvSpPr/>
          <p:nvPr/>
        </p:nvSpPr>
        <p:spPr>
          <a:xfrm>
            <a:off x="8682228" y="2446020"/>
            <a:ext cx="512064" cy="512064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 rot="5400000">
            <a:off x="8855964" y="2574036"/>
            <a:ext cx="219456" cy="256032"/>
          </a:xfrm>
          <a:prstGeom prst="triangle">
            <a:avLst>
              <a:gd fmla="val 50000" name="adj"/>
            </a:avLst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7"/>
          <p:cNvSpPr/>
          <p:nvPr/>
        </p:nvSpPr>
        <p:spPr>
          <a:xfrm>
            <a:off x="6263640" y="3012948"/>
            <a:ext cx="5349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사진 / 영상 삽입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6537960" y="3342132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잠금핀 삽입 F/T 힘 그래프 (저항 감지 → 후퇴/최종 삽입)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548640" y="4251960"/>
            <a:ext cx="5349240" cy="2148840"/>
          </a:xfrm>
          <a:prstGeom prst="roundRect">
            <a:avLst>
              <a:gd fmla="val 5106" name="adj"/>
            </a:avLst>
          </a:prstGeom>
          <a:solidFill>
            <a:srgbClr val="F4F4F5"/>
          </a:solidFill>
          <a:ln cap="flat" cmpd="sng" w="15875">
            <a:solidFill>
              <a:srgbClr val="D8D9D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"/>
          <p:cNvSpPr/>
          <p:nvPr/>
        </p:nvSpPr>
        <p:spPr>
          <a:xfrm>
            <a:off x="2967228" y="4869180"/>
            <a:ext cx="512064" cy="512064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7"/>
          <p:cNvSpPr/>
          <p:nvPr/>
        </p:nvSpPr>
        <p:spPr>
          <a:xfrm rot="5400000">
            <a:off x="3140964" y="4997196"/>
            <a:ext cx="219456" cy="256032"/>
          </a:xfrm>
          <a:prstGeom prst="triangle">
            <a:avLst>
              <a:gd fmla="val 50000" name="adj"/>
            </a:avLst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7"/>
          <p:cNvSpPr/>
          <p:nvPr/>
        </p:nvSpPr>
        <p:spPr>
          <a:xfrm>
            <a:off x="548640" y="5436108"/>
            <a:ext cx="5349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사진 / 영상 삽입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822960" y="5765292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Frame 좌표계 측정 결과 (P1/P2/P3 → 좌표계 시각화)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6263640" y="4251960"/>
            <a:ext cx="5349240" cy="2148840"/>
          </a:xfrm>
          <a:prstGeom prst="roundRect">
            <a:avLst>
              <a:gd fmla="val 5106" name="adj"/>
            </a:avLst>
          </a:prstGeom>
          <a:solidFill>
            <a:srgbClr val="F4F4F5"/>
          </a:solidFill>
          <a:ln cap="flat" cmpd="sng" w="15875">
            <a:solidFill>
              <a:srgbClr val="D8D9D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7"/>
          <p:cNvSpPr/>
          <p:nvPr/>
        </p:nvSpPr>
        <p:spPr>
          <a:xfrm>
            <a:off x="8682228" y="4869180"/>
            <a:ext cx="512064" cy="512064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7"/>
          <p:cNvSpPr/>
          <p:nvPr/>
        </p:nvSpPr>
        <p:spPr>
          <a:xfrm rot="5400000">
            <a:off x="8855964" y="4997196"/>
            <a:ext cx="219456" cy="256032"/>
          </a:xfrm>
          <a:prstGeom prst="triangle">
            <a:avLst>
              <a:gd fmla="val 50000" name="adj"/>
            </a:avLst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7"/>
          <p:cNvSpPr/>
          <p:nvPr/>
        </p:nvSpPr>
        <p:spPr>
          <a:xfrm>
            <a:off x="6263640" y="5436108"/>
            <a:ext cx="5349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사진 / 영상 삽입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6537960" y="5765292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패널 설치 완료 구조물 사진/영상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8"/>
          <p:cNvSpPr/>
          <p:nvPr/>
        </p:nvSpPr>
        <p:spPr>
          <a:xfrm>
            <a:off x="548640" y="38404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04  수행 경과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548640" y="77724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웹 서비스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6938" y="1135988"/>
            <a:ext cx="4008074" cy="23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5075" y="1135991"/>
            <a:ext cx="4059735" cy="23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6944" y="3824524"/>
            <a:ext cx="4008049" cy="2266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55075" y="3824525"/>
            <a:ext cx="4107023" cy="216782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8"/>
          <p:cNvSpPr/>
          <p:nvPr/>
        </p:nvSpPr>
        <p:spPr>
          <a:xfrm>
            <a:off x="3029650" y="3386400"/>
            <a:ext cx="30054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DashBoard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7605888" y="3386400"/>
            <a:ext cx="30054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Work Order 생성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3029650" y="6027300"/>
            <a:ext cx="30054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Work Detail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7605900" y="6027300"/>
            <a:ext cx="30054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History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9"/>
          <p:cNvSpPr/>
          <p:nvPr/>
        </p:nvSpPr>
        <p:spPr>
          <a:xfrm>
            <a:off x="548640" y="38404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04  수행 경과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5" name="Google Shape;465;p19"/>
          <p:cNvSpPr/>
          <p:nvPr/>
        </p:nvSpPr>
        <p:spPr>
          <a:xfrm>
            <a:off x="548640" y="77724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웹 서비스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8" name="Google Shape;46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00" y="1947825"/>
            <a:ext cx="5401677" cy="310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5302" y="1928112"/>
            <a:ext cx="5540751" cy="3146424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9"/>
          <p:cNvSpPr/>
          <p:nvPr/>
        </p:nvSpPr>
        <p:spPr>
          <a:xfrm>
            <a:off x="5667083" y="3335400"/>
            <a:ext cx="748800" cy="187200"/>
          </a:xfrm>
          <a:prstGeom prst="rightArrow">
            <a:avLst>
              <a:gd fmla="val 50000" name="adj1"/>
              <a:gd fmla="val 127017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9"/>
          <p:cNvSpPr/>
          <p:nvPr/>
        </p:nvSpPr>
        <p:spPr>
          <a:xfrm>
            <a:off x="5272482" y="2404257"/>
            <a:ext cx="354600" cy="18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0"/>
          <p:cNvSpPr/>
          <p:nvPr/>
        </p:nvSpPr>
        <p:spPr>
          <a:xfrm>
            <a:off x="548640" y="38404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04  수행 경과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548640" y="77724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웹 서비스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9" name="Google Shape;479;p20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0" name="Google Shape;480;p20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1" name="Google Shape;48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1788" y="1462898"/>
            <a:ext cx="8168428" cy="4618674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20"/>
          <p:cNvSpPr/>
          <p:nvPr/>
        </p:nvSpPr>
        <p:spPr>
          <a:xfrm>
            <a:off x="3065163" y="3566943"/>
            <a:ext cx="6985200" cy="1083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1"/>
          <p:cNvSpPr/>
          <p:nvPr/>
        </p:nvSpPr>
        <p:spPr>
          <a:xfrm>
            <a:off x="548640" y="38404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04  수행 경과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548640" y="77724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웹 서비스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1" name="Google Shape;491;p21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2" name="Google Shape;4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1800" y="1462899"/>
            <a:ext cx="8168428" cy="4542887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1"/>
          <p:cNvSpPr/>
          <p:nvPr/>
        </p:nvSpPr>
        <p:spPr>
          <a:xfrm>
            <a:off x="8897665" y="4356944"/>
            <a:ext cx="1192200" cy="274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2"/>
          <p:cNvSpPr/>
          <p:nvPr/>
        </p:nvSpPr>
        <p:spPr>
          <a:xfrm>
            <a:off x="548640" y="38404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04  수행 경과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0" name="Google Shape;500;p22"/>
          <p:cNvSpPr/>
          <p:nvPr/>
        </p:nvSpPr>
        <p:spPr>
          <a:xfrm>
            <a:off x="548640" y="77724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웹 서비스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1" name="Google Shape;501;p22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2" name="Google Shape;502;p22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3" name="Google Shape;5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1800" y="1462900"/>
            <a:ext cx="8168428" cy="4311571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22"/>
          <p:cNvSpPr/>
          <p:nvPr/>
        </p:nvSpPr>
        <p:spPr>
          <a:xfrm>
            <a:off x="3054625" y="2425694"/>
            <a:ext cx="7084500" cy="323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3"/>
          <p:cNvSpPr/>
          <p:nvPr/>
        </p:nvSpPr>
        <p:spPr>
          <a:xfrm>
            <a:off x="548640" y="38404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04  수행 경과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1" name="Google Shape;511;p23"/>
          <p:cNvSpPr/>
          <p:nvPr/>
        </p:nvSpPr>
        <p:spPr>
          <a:xfrm>
            <a:off x="548643" y="777250"/>
            <a:ext cx="257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하드웨어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2" name="Google Shape;512;p23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4" name="Google Shape;514;p23"/>
          <p:cNvPicPr preferRelativeResize="0"/>
          <p:nvPr/>
        </p:nvPicPr>
        <p:blipFill rotWithShape="1">
          <a:blip r:embed="rId3">
            <a:alphaModFix/>
          </a:blip>
          <a:srcRect b="4631" l="24251" r="5396" t="7162"/>
          <a:stretch/>
        </p:blipFill>
        <p:spPr>
          <a:xfrm>
            <a:off x="4493525" y="5170400"/>
            <a:ext cx="1628649" cy="157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23"/>
          <p:cNvPicPr preferRelativeResize="0"/>
          <p:nvPr/>
        </p:nvPicPr>
        <p:blipFill rotWithShape="1">
          <a:blip r:embed="rId4">
            <a:alphaModFix/>
          </a:blip>
          <a:srcRect b="0" l="36983" r="18810" t="0"/>
          <a:stretch/>
        </p:blipFill>
        <p:spPr>
          <a:xfrm>
            <a:off x="9015876" y="4969242"/>
            <a:ext cx="997598" cy="1743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23"/>
          <p:cNvPicPr preferRelativeResize="0"/>
          <p:nvPr/>
        </p:nvPicPr>
        <p:blipFill rotWithShape="1">
          <a:blip r:embed="rId5">
            <a:alphaModFix/>
          </a:blip>
          <a:srcRect b="3665" l="19361" r="0" t="9476"/>
          <a:stretch/>
        </p:blipFill>
        <p:spPr>
          <a:xfrm>
            <a:off x="4647800" y="1888750"/>
            <a:ext cx="3700950" cy="3080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23"/>
          <p:cNvPicPr preferRelativeResize="0"/>
          <p:nvPr/>
        </p:nvPicPr>
        <p:blipFill rotWithShape="1">
          <a:blip r:embed="rId6">
            <a:alphaModFix/>
          </a:blip>
          <a:srcRect b="3981" l="0" r="0" t="3658"/>
          <a:stretch/>
        </p:blipFill>
        <p:spPr>
          <a:xfrm>
            <a:off x="331607" y="1888750"/>
            <a:ext cx="4316194" cy="3080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23"/>
          <p:cNvPicPr preferRelativeResize="0"/>
          <p:nvPr/>
        </p:nvPicPr>
        <p:blipFill rotWithShape="1">
          <a:blip r:embed="rId7">
            <a:alphaModFix/>
          </a:blip>
          <a:srcRect b="18194" l="13210" r="0" t="19775"/>
          <a:stretch/>
        </p:blipFill>
        <p:spPr>
          <a:xfrm flipH="1">
            <a:off x="9336500" y="1836100"/>
            <a:ext cx="2208826" cy="121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23"/>
          <p:cNvPicPr preferRelativeResize="0"/>
          <p:nvPr/>
        </p:nvPicPr>
        <p:blipFill rotWithShape="1">
          <a:blip r:embed="rId8">
            <a:alphaModFix/>
          </a:blip>
          <a:srcRect b="0" l="11846" r="12944" t="0"/>
          <a:stretch/>
        </p:blipFill>
        <p:spPr>
          <a:xfrm flipH="1">
            <a:off x="9336500" y="3148875"/>
            <a:ext cx="2109400" cy="1457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23"/>
          <p:cNvPicPr preferRelativeResize="0"/>
          <p:nvPr/>
        </p:nvPicPr>
        <p:blipFill rotWithShape="1">
          <a:blip r:embed="rId9">
            <a:alphaModFix/>
          </a:blip>
          <a:srcRect b="0" l="32036" r="15074" t="0"/>
          <a:stretch/>
        </p:blipFill>
        <p:spPr>
          <a:xfrm>
            <a:off x="9015875" y="176925"/>
            <a:ext cx="997598" cy="1457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23"/>
          <p:cNvPicPr preferRelativeResize="0"/>
          <p:nvPr/>
        </p:nvPicPr>
        <p:blipFill rotWithShape="1">
          <a:blip r:embed="rId10">
            <a:alphaModFix/>
          </a:blip>
          <a:srcRect b="15408" l="9085" r="13137" t="8766"/>
          <a:stretch/>
        </p:blipFill>
        <p:spPr>
          <a:xfrm>
            <a:off x="4895750" y="322925"/>
            <a:ext cx="2710924" cy="131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23"/>
          <p:cNvPicPr preferRelativeResize="0"/>
          <p:nvPr/>
        </p:nvPicPr>
        <p:blipFill rotWithShape="1">
          <a:blip r:embed="rId11">
            <a:alphaModFix/>
          </a:blip>
          <a:srcRect b="0" l="44650" r="27325" t="0"/>
          <a:stretch/>
        </p:blipFill>
        <p:spPr>
          <a:xfrm>
            <a:off x="8293224" y="5207338"/>
            <a:ext cx="546076" cy="150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23"/>
          <p:cNvPicPr preferRelativeResize="0"/>
          <p:nvPr/>
        </p:nvPicPr>
        <p:blipFill rotWithShape="1">
          <a:blip r:embed="rId12">
            <a:alphaModFix/>
          </a:blip>
          <a:srcRect b="7386" l="34935" r="13438" t="3201"/>
          <a:stretch/>
        </p:blipFill>
        <p:spPr>
          <a:xfrm>
            <a:off x="10285124" y="368625"/>
            <a:ext cx="911646" cy="121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4"/>
          <p:cNvSpPr/>
          <p:nvPr/>
        </p:nvSpPr>
        <p:spPr>
          <a:xfrm>
            <a:off x="548640" y="38404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04  수행 경과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0" name="Google Shape;530;p24"/>
          <p:cNvSpPr/>
          <p:nvPr/>
        </p:nvSpPr>
        <p:spPr>
          <a:xfrm>
            <a:off x="548648" y="777250"/>
            <a:ext cx="7889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소프트웨어</a:t>
            </a:r>
            <a:endParaRPr b="1" sz="2600">
              <a:solidFill>
                <a:srgbClr val="1B1D2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1" name="Google Shape;531;p24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2" name="Google Shape;532;p24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3" name="Google Shape;5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49900"/>
            <a:ext cx="11887201" cy="1358206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24"/>
          <p:cNvSpPr/>
          <p:nvPr/>
        </p:nvSpPr>
        <p:spPr>
          <a:xfrm>
            <a:off x="548640" y="129844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ros2_bridge - Backend </a:t>
            </a:r>
            <a:r>
              <a:rPr lang="en-US" sz="1300">
                <a:solidFill>
                  <a:srgbClr val="5B5F66"/>
                </a:solidFill>
                <a:highlight>
                  <a:schemeClr val="lt1"/>
                </a:highlight>
                <a:latin typeface="Noto Sans KR"/>
                <a:ea typeface="Noto Sans KR"/>
                <a:cs typeface="Noto Sans KR"/>
                <a:sym typeface="Noto Sans KR"/>
              </a:rPr>
              <a:t>↔ ROS2 Bridge 패키지</a:t>
            </a:r>
            <a:endParaRPr i="0" sz="1300" u="none" cap="none" strike="noStrike">
              <a:solidFill>
                <a:srgbClr val="5B5F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5"/>
          <p:cNvSpPr/>
          <p:nvPr/>
        </p:nvSpPr>
        <p:spPr>
          <a:xfrm>
            <a:off x="548640" y="38404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04  수행 경과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1" name="Google Shape;541;p25"/>
          <p:cNvSpPr/>
          <p:nvPr/>
        </p:nvSpPr>
        <p:spPr>
          <a:xfrm>
            <a:off x="548648" y="777250"/>
            <a:ext cx="7889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소프트웨어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2" name="Google Shape;542;p25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3" name="Google Shape;543;p25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4" name="Google Shape;5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538" y="1740350"/>
            <a:ext cx="9782927" cy="46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25"/>
          <p:cNvSpPr/>
          <p:nvPr/>
        </p:nvSpPr>
        <p:spPr>
          <a:xfrm>
            <a:off x="548640" y="129844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solar_panel_robot - 로봇 제어 패키지</a:t>
            </a:r>
            <a:endParaRPr i="0" sz="1300" u="none" cap="none" strike="noStrike">
              <a:solidFill>
                <a:srgbClr val="5B5F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D22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6"/>
          <p:cNvSpPr/>
          <p:nvPr/>
        </p:nvSpPr>
        <p:spPr>
          <a:xfrm>
            <a:off x="548640" y="38404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04  수행 경과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552" name="Google Shape;552;p26"/>
          <p:cNvGrpSpPr/>
          <p:nvPr/>
        </p:nvGrpSpPr>
        <p:grpSpPr>
          <a:xfrm>
            <a:off x="6656114" y="3229312"/>
            <a:ext cx="2143149" cy="1603626"/>
            <a:chOff x="800201" y="1566674"/>
            <a:chExt cx="2143149" cy="1603626"/>
          </a:xfrm>
        </p:grpSpPr>
        <p:pic>
          <p:nvPicPr>
            <p:cNvPr id="553" name="Google Shape;553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9575" y="1566674"/>
              <a:ext cx="2123775" cy="1120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26"/>
            <p:cNvSpPr/>
            <p:nvPr/>
          </p:nvSpPr>
          <p:spPr>
            <a:xfrm>
              <a:off x="800201" y="2511800"/>
              <a:ext cx="21237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rPr b="1" lang="en-US" sz="135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RecoverRobot.srv</a:t>
              </a:r>
              <a:endParaRPr b="1" sz="13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55" name="Google Shape;555;p26"/>
          <p:cNvGrpSpPr/>
          <p:nvPr/>
        </p:nvGrpSpPr>
        <p:grpSpPr>
          <a:xfrm>
            <a:off x="3775150" y="2826820"/>
            <a:ext cx="2673950" cy="2408604"/>
            <a:chOff x="3414275" y="1556870"/>
            <a:chExt cx="2673950" cy="2408604"/>
          </a:xfrm>
        </p:grpSpPr>
        <p:pic>
          <p:nvPicPr>
            <p:cNvPr id="556" name="Google Shape;556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14275" y="1556870"/>
              <a:ext cx="2673950" cy="189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26"/>
            <p:cNvSpPr/>
            <p:nvPr/>
          </p:nvSpPr>
          <p:spPr>
            <a:xfrm>
              <a:off x="3660388" y="3306975"/>
              <a:ext cx="21237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rPr b="1" lang="en-US" sz="135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StopOperation</a:t>
              </a:r>
              <a:r>
                <a:rPr b="1" lang="en-US" sz="135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.srv</a:t>
              </a:r>
              <a:endParaRPr b="1" sz="13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58" name="Google Shape;558;p26"/>
          <p:cNvGrpSpPr/>
          <p:nvPr/>
        </p:nvGrpSpPr>
        <p:grpSpPr>
          <a:xfrm>
            <a:off x="9006275" y="501765"/>
            <a:ext cx="2896183" cy="5735316"/>
            <a:chOff x="7257625" y="384040"/>
            <a:chExt cx="2896183" cy="5735316"/>
          </a:xfrm>
        </p:grpSpPr>
        <p:pic>
          <p:nvPicPr>
            <p:cNvPr id="559" name="Google Shape;559;p2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257625" y="384040"/>
              <a:ext cx="2896183" cy="52272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26"/>
            <p:cNvSpPr/>
            <p:nvPr/>
          </p:nvSpPr>
          <p:spPr>
            <a:xfrm>
              <a:off x="7401312" y="5460856"/>
              <a:ext cx="26088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rPr b="1" lang="en-US" sz="135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ExecuteOperation.action</a:t>
              </a:r>
              <a:endParaRPr b="1" sz="13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61" name="Google Shape;561;p26"/>
          <p:cNvGrpSpPr/>
          <p:nvPr/>
        </p:nvGrpSpPr>
        <p:grpSpPr>
          <a:xfrm>
            <a:off x="5002663" y="1009725"/>
            <a:ext cx="3209925" cy="1425955"/>
            <a:chOff x="1137088" y="3696000"/>
            <a:chExt cx="3209925" cy="1425955"/>
          </a:xfrm>
        </p:grpSpPr>
        <p:pic>
          <p:nvPicPr>
            <p:cNvPr id="562" name="Google Shape;562;p2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37088" y="3696000"/>
              <a:ext cx="3209925" cy="9213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26"/>
            <p:cNvSpPr/>
            <p:nvPr/>
          </p:nvSpPr>
          <p:spPr>
            <a:xfrm>
              <a:off x="1680214" y="4463455"/>
              <a:ext cx="21237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rPr b="1" lang="en-US" sz="135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Parameter.msg</a:t>
              </a:r>
              <a:endParaRPr b="1" sz="13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64" name="Google Shape;564;p26"/>
          <p:cNvGrpSpPr/>
          <p:nvPr/>
        </p:nvGrpSpPr>
        <p:grpSpPr>
          <a:xfrm>
            <a:off x="548652" y="1745386"/>
            <a:ext cx="3015225" cy="4570190"/>
            <a:chOff x="548652" y="1392863"/>
            <a:chExt cx="3015225" cy="4570190"/>
          </a:xfrm>
        </p:grpSpPr>
        <p:pic>
          <p:nvPicPr>
            <p:cNvPr id="565" name="Google Shape;565;p2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48652" y="1392863"/>
              <a:ext cx="3015225" cy="4072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26"/>
            <p:cNvSpPr/>
            <p:nvPr/>
          </p:nvSpPr>
          <p:spPr>
            <a:xfrm>
              <a:off x="994413" y="5304552"/>
              <a:ext cx="21237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rPr b="1" lang="en-US" sz="135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SystemEvent.msg</a:t>
              </a:r>
              <a:endParaRPr b="1" sz="13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567" name="Google Shape;567;p26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8" name="Google Shape;568;p26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7BAC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548640" y="77724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소프트웨어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548640" y="129844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solar_panel_interface - 인터페이스 정의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7"/>
          <p:cNvSpPr/>
          <p:nvPr/>
        </p:nvSpPr>
        <p:spPr>
          <a:xfrm>
            <a:off x="548640" y="38404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04  수행 경과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7" name="Google Shape;577;p27"/>
          <p:cNvSpPr/>
          <p:nvPr/>
        </p:nvSpPr>
        <p:spPr>
          <a:xfrm>
            <a:off x="548650" y="777250"/>
            <a:ext cx="9066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소프트웨어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8" name="Google Shape;578;p27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9" name="Google Shape;579;p27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0" name="Google Shape;58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2012" y="1719050"/>
            <a:ext cx="8007967" cy="47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27"/>
          <p:cNvSpPr/>
          <p:nvPr/>
        </p:nvSpPr>
        <p:spPr>
          <a:xfrm>
            <a:off x="548640" y="129844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web_app - Flask Backend (Work Order / Recipe 관리)</a:t>
            </a:r>
            <a:endParaRPr i="0" sz="1300" u="none" cap="none" strike="noStrike">
              <a:solidFill>
                <a:srgbClr val="5B5F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D22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8"/>
          <p:cNvSpPr/>
          <p:nvPr/>
        </p:nvSpPr>
        <p:spPr>
          <a:xfrm>
            <a:off x="548640" y="38404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04  수행 경과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88" name="Google Shape;5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6349" y="896850"/>
            <a:ext cx="8995400" cy="5430001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28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0" name="Google Shape;590;p28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7BAC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8"/>
          <p:cNvSpPr/>
          <p:nvPr/>
        </p:nvSpPr>
        <p:spPr>
          <a:xfrm>
            <a:off x="548640" y="77724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소프트웨어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2" name="Google Shape;592;p28"/>
          <p:cNvSpPr/>
          <p:nvPr/>
        </p:nvSpPr>
        <p:spPr>
          <a:xfrm>
            <a:off x="548640" y="129844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DB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D22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9"/>
          <p:cNvSpPr/>
          <p:nvPr/>
        </p:nvSpPr>
        <p:spPr>
          <a:xfrm>
            <a:off x="548640" y="38404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04  수행 경과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9" name="Google Shape;599;p29"/>
          <p:cNvSpPr/>
          <p:nvPr/>
        </p:nvSpPr>
        <p:spPr>
          <a:xfrm>
            <a:off x="548640" y="77724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 아키텍처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0" name="Google Shape;600;p29"/>
          <p:cNvSpPr/>
          <p:nvPr/>
        </p:nvSpPr>
        <p:spPr>
          <a:xfrm>
            <a:off x="548640" y="129844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현장 관리자부터 로봇 조작까지의 시스템 흐름 파이프라인</a:t>
            </a:r>
            <a:endParaRPr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1" name="Google Shape;601;p29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602" name="Google Shape;602;p29"/>
          <p:cNvGrpSpPr/>
          <p:nvPr/>
        </p:nvGrpSpPr>
        <p:grpSpPr>
          <a:xfrm>
            <a:off x="152400" y="2012773"/>
            <a:ext cx="11887150" cy="4001254"/>
            <a:chOff x="152400" y="2012773"/>
            <a:chExt cx="11887150" cy="4001254"/>
          </a:xfrm>
        </p:grpSpPr>
        <p:sp>
          <p:nvSpPr>
            <p:cNvPr id="603" name="Google Shape;603;p29"/>
            <p:cNvSpPr/>
            <p:nvPr/>
          </p:nvSpPr>
          <p:spPr>
            <a:xfrm>
              <a:off x="152400" y="2012773"/>
              <a:ext cx="2025600" cy="989400"/>
            </a:xfrm>
            <a:prstGeom prst="roundRect">
              <a:avLst>
                <a:gd fmla="val 13889" name="adj"/>
              </a:avLst>
            </a:prstGeom>
            <a:solidFill>
              <a:srgbClr val="5B8DEF"/>
            </a:solidFill>
            <a:ln cap="flat" cmpd="sng" w="12700">
              <a:solidFill>
                <a:srgbClr val="3335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9"/>
            <p:cNvSpPr/>
            <p:nvPr/>
          </p:nvSpPr>
          <p:spPr>
            <a:xfrm>
              <a:off x="9316025" y="2012773"/>
              <a:ext cx="2457300" cy="989400"/>
            </a:xfrm>
            <a:prstGeom prst="roundRect">
              <a:avLst>
                <a:gd fmla="val 13889" name="adj"/>
              </a:avLst>
            </a:prstGeom>
            <a:solidFill>
              <a:srgbClr val="5B8DEF"/>
            </a:solidFill>
            <a:ln cap="flat" cmpd="sng" w="12700">
              <a:solidFill>
                <a:srgbClr val="3335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9"/>
            <p:cNvSpPr/>
            <p:nvPr/>
          </p:nvSpPr>
          <p:spPr>
            <a:xfrm>
              <a:off x="2728475" y="2012773"/>
              <a:ext cx="2726400" cy="989400"/>
            </a:xfrm>
            <a:prstGeom prst="roundRect">
              <a:avLst>
                <a:gd fmla="val 13889" name="adj"/>
              </a:avLst>
            </a:prstGeom>
            <a:solidFill>
              <a:srgbClr val="24262D"/>
            </a:solidFill>
            <a:ln cap="flat" cmpd="sng" w="12700">
              <a:solidFill>
                <a:srgbClr val="3335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9"/>
            <p:cNvSpPr/>
            <p:nvPr/>
          </p:nvSpPr>
          <p:spPr>
            <a:xfrm>
              <a:off x="6035050" y="2012773"/>
              <a:ext cx="2726400" cy="989400"/>
            </a:xfrm>
            <a:prstGeom prst="roundRect">
              <a:avLst>
                <a:gd fmla="val 13889" name="adj"/>
              </a:avLst>
            </a:prstGeom>
            <a:solidFill>
              <a:srgbClr val="24262D"/>
            </a:solidFill>
            <a:ln cap="flat" cmpd="sng" w="12700">
              <a:solidFill>
                <a:srgbClr val="3335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9"/>
            <p:cNvSpPr/>
            <p:nvPr/>
          </p:nvSpPr>
          <p:spPr>
            <a:xfrm>
              <a:off x="4872000" y="3539398"/>
              <a:ext cx="5037300" cy="855900"/>
            </a:xfrm>
            <a:prstGeom prst="roundRect">
              <a:avLst>
                <a:gd fmla="val 13889" name="adj"/>
              </a:avLst>
            </a:prstGeom>
            <a:solidFill>
              <a:srgbClr val="5B8DEF"/>
            </a:solidFill>
            <a:ln cap="flat" cmpd="sng" w="12700">
              <a:solidFill>
                <a:srgbClr val="3335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9"/>
            <p:cNvSpPr/>
            <p:nvPr/>
          </p:nvSpPr>
          <p:spPr>
            <a:xfrm>
              <a:off x="6152350" y="4932523"/>
              <a:ext cx="5887200" cy="1081500"/>
            </a:xfrm>
            <a:prstGeom prst="roundRect">
              <a:avLst>
                <a:gd fmla="val 13889" name="adj"/>
              </a:avLst>
            </a:prstGeom>
            <a:solidFill>
              <a:srgbClr val="24262D"/>
            </a:solidFill>
            <a:ln cap="flat" cmpd="sng" w="12700">
              <a:solidFill>
                <a:srgbClr val="3335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9"/>
            <p:cNvSpPr/>
            <p:nvPr/>
          </p:nvSpPr>
          <p:spPr>
            <a:xfrm>
              <a:off x="2748549" y="4932527"/>
              <a:ext cx="2843700" cy="1081500"/>
            </a:xfrm>
            <a:prstGeom prst="roundRect">
              <a:avLst>
                <a:gd fmla="val 13889" name="adj"/>
              </a:avLst>
            </a:prstGeom>
            <a:solidFill>
              <a:srgbClr val="5B8DEF"/>
            </a:solidFill>
            <a:ln cap="flat" cmpd="sng" w="12700">
              <a:solidFill>
                <a:srgbClr val="3335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10" name="Google Shape;610;p29"/>
            <p:cNvCxnSpPr>
              <a:stCxn id="603" idx="3"/>
              <a:endCxn id="605" idx="1"/>
            </p:cNvCxnSpPr>
            <p:nvPr/>
          </p:nvCxnSpPr>
          <p:spPr>
            <a:xfrm>
              <a:off x="2178000" y="2507473"/>
              <a:ext cx="5505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1" name="Google Shape;611;p29"/>
            <p:cNvCxnSpPr>
              <a:stCxn id="605" idx="3"/>
              <a:endCxn id="606" idx="1"/>
            </p:cNvCxnSpPr>
            <p:nvPr/>
          </p:nvCxnSpPr>
          <p:spPr>
            <a:xfrm>
              <a:off x="5454875" y="2507473"/>
              <a:ext cx="580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2" name="Google Shape;612;p29"/>
            <p:cNvCxnSpPr>
              <a:stCxn id="606" idx="3"/>
              <a:endCxn id="604" idx="1"/>
            </p:cNvCxnSpPr>
            <p:nvPr/>
          </p:nvCxnSpPr>
          <p:spPr>
            <a:xfrm>
              <a:off x="8761450" y="2507473"/>
              <a:ext cx="5547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" name="Google Shape;613;p29"/>
            <p:cNvCxnSpPr>
              <a:stCxn id="606" idx="2"/>
              <a:endCxn id="607" idx="0"/>
            </p:cNvCxnSpPr>
            <p:nvPr/>
          </p:nvCxnSpPr>
          <p:spPr>
            <a:xfrm flipH="1">
              <a:off x="7390750" y="3002173"/>
              <a:ext cx="7500" cy="537300"/>
            </a:xfrm>
            <a:prstGeom prst="straightConnector1">
              <a:avLst/>
            </a:prstGeom>
            <a:noFill/>
            <a:ln cap="flat" cmpd="sng" w="9525">
              <a:solidFill>
                <a:srgbClr val="5B8DE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14" name="Google Shape;614;p29"/>
            <p:cNvCxnSpPr>
              <a:stCxn id="607" idx="2"/>
            </p:cNvCxnSpPr>
            <p:nvPr/>
          </p:nvCxnSpPr>
          <p:spPr>
            <a:xfrm>
              <a:off x="7390650" y="4395298"/>
              <a:ext cx="0" cy="520200"/>
            </a:xfrm>
            <a:prstGeom prst="straightConnector1">
              <a:avLst/>
            </a:prstGeom>
            <a:noFill/>
            <a:ln cap="flat" cmpd="sng" w="9525">
              <a:solidFill>
                <a:srgbClr val="5B8DE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15" name="Google Shape;615;p29"/>
            <p:cNvCxnSpPr>
              <a:stCxn id="608" idx="1"/>
              <a:endCxn id="609" idx="3"/>
            </p:cNvCxnSpPr>
            <p:nvPr/>
          </p:nvCxnSpPr>
          <p:spPr>
            <a:xfrm rot="10800000">
              <a:off x="5592250" y="5473273"/>
              <a:ext cx="5601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616" name="Google Shape;616;p29"/>
            <p:cNvSpPr/>
            <p:nvPr/>
          </p:nvSpPr>
          <p:spPr>
            <a:xfrm>
              <a:off x="525453" y="2178223"/>
              <a:ext cx="12795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rPr b="1" lang="en-US" sz="135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현장 관리자</a:t>
              </a:r>
              <a:endParaRPr i="0" sz="13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17" name="Google Shape;617;p29"/>
            <p:cNvSpPr/>
            <p:nvPr/>
          </p:nvSpPr>
          <p:spPr>
            <a:xfrm>
              <a:off x="3106336" y="2178223"/>
              <a:ext cx="19707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rPr b="1" lang="en-US" sz="135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DashBoard</a:t>
              </a:r>
              <a:endParaRPr b="1" sz="13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rPr lang="en-US" sz="1200">
                  <a:solidFill>
                    <a:srgbClr val="B7BAC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HTML / JS</a:t>
              </a:r>
              <a:endParaRPr sz="1200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18" name="Google Shape;618;p29"/>
            <p:cNvSpPr/>
            <p:nvPr/>
          </p:nvSpPr>
          <p:spPr>
            <a:xfrm>
              <a:off x="6412923" y="2178223"/>
              <a:ext cx="19707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rPr b="1" lang="en-US" sz="135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Flask Backend</a:t>
              </a:r>
              <a:endParaRPr b="1" sz="13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rPr lang="en-US" sz="1200">
                  <a:solidFill>
                    <a:srgbClr val="B7BAC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REST API</a:t>
              </a:r>
              <a:endParaRPr sz="1200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19" name="Google Shape;619;p29"/>
            <p:cNvSpPr/>
            <p:nvPr/>
          </p:nvSpPr>
          <p:spPr>
            <a:xfrm>
              <a:off x="9559323" y="2201536"/>
              <a:ext cx="19707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rPr b="1" lang="en-US" sz="135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PostgreSQL</a:t>
              </a:r>
              <a:endParaRPr b="1" sz="13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rPr lang="en-US" sz="1200">
                  <a:solidFill>
                    <a:srgbClr val="B7BAC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DB</a:t>
              </a:r>
              <a:endParaRPr sz="1200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20" name="Google Shape;620;p29"/>
            <p:cNvSpPr/>
            <p:nvPr/>
          </p:nvSpPr>
          <p:spPr>
            <a:xfrm>
              <a:off x="5454875" y="3638148"/>
              <a:ext cx="41046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rPr b="1" lang="en-US" sz="135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ROS2 Bridge</a:t>
              </a:r>
              <a:endParaRPr b="1" sz="13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rPr lang="en-US" sz="1200">
                  <a:solidFill>
                    <a:srgbClr val="B7BAC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별도 프로세스 (Flask + ActionClient)</a:t>
              </a:r>
              <a:endParaRPr sz="1200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21" name="Google Shape;621;p29"/>
            <p:cNvSpPr/>
            <p:nvPr/>
          </p:nvSpPr>
          <p:spPr>
            <a:xfrm>
              <a:off x="6642150" y="5154173"/>
              <a:ext cx="50373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rPr b="1" lang="en-US" sz="135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M0609 Robot + Gripper + F/T Sensor</a:t>
              </a:r>
              <a:endParaRPr b="1" sz="13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rPr lang="en-US" sz="1200">
                  <a:solidFill>
                    <a:srgbClr val="B7BAC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실제 조립 동작 수행</a:t>
              </a:r>
              <a:endParaRPr sz="1200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22" name="Google Shape;622;p29"/>
            <p:cNvSpPr/>
            <p:nvPr/>
          </p:nvSpPr>
          <p:spPr>
            <a:xfrm>
              <a:off x="3079450" y="5144023"/>
              <a:ext cx="21819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rPr b="1" lang="en-US" sz="135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Controller</a:t>
              </a:r>
              <a:endParaRPr b="1" sz="13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rPr lang="en-US" sz="1200">
                  <a:solidFill>
                    <a:srgbClr val="B7BAC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Robot Control Node</a:t>
              </a:r>
              <a:endParaRPr sz="1200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623" name="Google Shape;623;p29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7BAC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0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05  자체 평가 의견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0" name="Google Shape;630;p30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완성도 평가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1" name="Google Shape;631;p30"/>
          <p:cNvSpPr/>
          <p:nvPr/>
        </p:nvSpPr>
        <p:spPr>
          <a:xfrm>
            <a:off x="548640" y="1691640"/>
            <a:ext cx="3108960" cy="3566160"/>
          </a:xfrm>
          <a:prstGeom prst="roundRect">
            <a:avLst>
              <a:gd fmla="val 4706" name="adj"/>
            </a:avLst>
          </a:prstGeom>
          <a:solidFill>
            <a:srgbClr val="1B1D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0"/>
          <p:cNvSpPr/>
          <p:nvPr/>
        </p:nvSpPr>
        <p:spPr>
          <a:xfrm>
            <a:off x="548640" y="214884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mbr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[ O ]</a:t>
            </a:r>
            <a:endParaRPr i="0" sz="5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3" name="Google Shape;633;p30"/>
          <p:cNvSpPr/>
          <p:nvPr/>
        </p:nvSpPr>
        <p:spPr>
          <a:xfrm>
            <a:off x="548640" y="32461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/ 10</a:t>
            </a:r>
            <a:endParaRPr i="0" sz="1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4" name="Google Shape;634;p30"/>
          <p:cNvSpPr/>
          <p:nvPr/>
        </p:nvSpPr>
        <p:spPr>
          <a:xfrm>
            <a:off x="548640" y="37947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자체 평가 점수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35" name="Google Shape;635;p30"/>
          <p:cNvCxnSpPr/>
          <p:nvPr/>
        </p:nvCxnSpPr>
        <p:spPr>
          <a:xfrm>
            <a:off x="914400" y="4297680"/>
            <a:ext cx="2377440" cy="0"/>
          </a:xfrm>
          <a:prstGeom prst="straightConnector1">
            <a:avLst/>
          </a:prstGeom>
          <a:noFill/>
          <a:ln cap="flat" cmpd="sng" w="12700">
            <a:solidFill>
              <a:srgbClr val="3A3C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6" name="Google Shape;636;p30"/>
          <p:cNvSpPr/>
          <p:nvPr/>
        </p:nvSpPr>
        <p:spPr>
          <a:xfrm>
            <a:off x="548640" y="448056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050"/>
              <a:buFont typeface="Calibri"/>
              <a:buNone/>
            </a:pPr>
            <a:r>
              <a:rPr i="1" lang="en-US" sz="105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점수 및 근거로 교체</a:t>
            </a:r>
            <a:endParaRPr i="0" sz="10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7" name="Google Shape;637;p30"/>
          <p:cNvSpPr/>
          <p:nvPr/>
        </p:nvSpPr>
        <p:spPr>
          <a:xfrm>
            <a:off x="3977640" y="1691640"/>
            <a:ext cx="7452360" cy="3566160"/>
          </a:xfrm>
          <a:prstGeom prst="roundRect">
            <a:avLst>
              <a:gd fmla="val 4103" name="adj"/>
            </a:avLst>
          </a:prstGeom>
          <a:solidFill>
            <a:srgbClr val="F4F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0"/>
          <p:cNvSpPr/>
          <p:nvPr/>
        </p:nvSpPr>
        <p:spPr>
          <a:xfrm>
            <a:off x="4251960" y="192024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목표 대비 구현 수준</a:t>
            </a:r>
            <a:endParaRPr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9" name="Google Shape;639;p30"/>
          <p:cNvSpPr/>
          <p:nvPr/>
        </p:nvSpPr>
        <p:spPr>
          <a:xfrm>
            <a:off x="4251960" y="2377440"/>
            <a:ext cx="68580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사전 기획 단계에서 세운 목표(기둥 → 프레임 → 잠금핀 체결 → 좌표계 측정 → 패널 설치) 중 web_app 전 구간은 완성 단계에 도달했으며, 실물 로봇 연동(Step 12)은 진행 중입니다.</a:t>
            </a:r>
            <a:endParaRPr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차별화 포인트인 F/T 센서 기반 힘 제어 삽입과 실측 기반 좌표계 생성은 [ 완성 / 부분 구현 ] 상태로, 발표 시 실제 진행 상황에 맞게 교체가 필요합니다.</a:t>
            </a:r>
            <a:endParaRPr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0" name="Google Shape;640;p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1" name="Google Shape;641;p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1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05  자체 평가 의견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8" name="Google Shape;648;p3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잘한 점 &amp; 개선점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9" name="Google Shape;649;p31"/>
          <p:cNvSpPr/>
          <p:nvPr/>
        </p:nvSpPr>
        <p:spPr>
          <a:xfrm>
            <a:off x="548640" y="1600200"/>
            <a:ext cx="5257800" cy="4206240"/>
          </a:xfrm>
          <a:prstGeom prst="roundRect">
            <a:avLst>
              <a:gd fmla="val 3043" name="adj"/>
            </a:avLst>
          </a:prstGeom>
          <a:solidFill>
            <a:srgbClr val="F4F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1"/>
          <p:cNvSpPr/>
          <p:nvPr/>
        </p:nvSpPr>
        <p:spPr>
          <a:xfrm>
            <a:off x="822960" y="1856232"/>
            <a:ext cx="4709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잘한 점</a:t>
            </a:r>
            <a:endParaRPr i="0" sz="1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1" name="Google Shape;651;p31"/>
          <p:cNvSpPr/>
          <p:nvPr/>
        </p:nvSpPr>
        <p:spPr>
          <a:xfrm>
            <a:off x="822960" y="2523744"/>
            <a:ext cx="91440" cy="9144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1"/>
          <p:cNvSpPr/>
          <p:nvPr/>
        </p:nvSpPr>
        <p:spPr>
          <a:xfrm>
            <a:off x="1051560" y="2395728"/>
            <a:ext cx="4480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BR→SYS-FR→FR→TC 요구사항 추적 체계를 먼저 세워 팀 전체가 같은 기준으로 판단</a:t>
            </a:r>
            <a:endParaRPr i="0" sz="11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3" name="Google Shape;653;p31"/>
          <p:cNvSpPr/>
          <p:nvPr/>
        </p:nvSpPr>
        <p:spPr>
          <a:xfrm>
            <a:off x="822960" y="3547872"/>
            <a:ext cx="91440" cy="9144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1"/>
          <p:cNvSpPr/>
          <p:nvPr/>
        </p:nvSpPr>
        <p:spPr>
          <a:xfrm>
            <a:off x="1051560" y="3419856"/>
            <a:ext cx="4480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통신 인터페이스(solar_panel_interface)를 계약처럼 먼저 정의 → 로봇 제어/Bridge/Backend 병렬 개발</a:t>
            </a:r>
            <a:endParaRPr i="0" sz="11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5" name="Google Shape;655;p31"/>
          <p:cNvSpPr/>
          <p:nvPr/>
        </p:nvSpPr>
        <p:spPr>
          <a:xfrm>
            <a:off x="822960" y="4572000"/>
            <a:ext cx="91440" cy="9144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1"/>
          <p:cNvSpPr/>
          <p:nvPr/>
        </p:nvSpPr>
        <p:spPr>
          <a:xfrm>
            <a:off x="1051560" y="4443984"/>
            <a:ext cx="4480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B1D22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1B1D22"/>
                </a:solidFill>
                <a:latin typeface="Noto Sans KR"/>
                <a:ea typeface="Noto Sans KR"/>
                <a:cs typeface="Noto Sans KR"/>
                <a:sym typeface="Noto Sans KR"/>
              </a:rPr>
              <a:t>단순 좌표 이동이 아닌 힘 제어 기술 구현</a:t>
            </a:r>
            <a:endParaRPr i="0" sz="11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7" name="Google Shape;657;p31"/>
          <p:cNvSpPr/>
          <p:nvPr/>
        </p:nvSpPr>
        <p:spPr>
          <a:xfrm>
            <a:off x="6172200" y="1600200"/>
            <a:ext cx="5257800" cy="4206240"/>
          </a:xfrm>
          <a:prstGeom prst="roundRect">
            <a:avLst>
              <a:gd fmla="val 3043" name="adj"/>
            </a:avLst>
          </a:prstGeom>
          <a:solidFill>
            <a:srgbClr val="24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1"/>
          <p:cNvSpPr/>
          <p:nvPr/>
        </p:nvSpPr>
        <p:spPr>
          <a:xfrm>
            <a:off x="6446520" y="1856232"/>
            <a:ext cx="4709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아쉬운 점 / 개선점</a:t>
            </a:r>
            <a:endParaRPr i="0" sz="1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9" name="Google Shape;659;p31"/>
          <p:cNvSpPr/>
          <p:nvPr/>
        </p:nvSpPr>
        <p:spPr>
          <a:xfrm>
            <a:off x="6446520" y="2523744"/>
            <a:ext cx="91440" cy="9144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1"/>
          <p:cNvSpPr/>
          <p:nvPr/>
        </p:nvSpPr>
        <p:spPr>
          <a:xfrm>
            <a:off x="6446520" y="3547872"/>
            <a:ext cx="91440" cy="9144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1"/>
          <p:cNvSpPr/>
          <p:nvPr/>
        </p:nvSpPr>
        <p:spPr>
          <a:xfrm>
            <a:off x="6675120" y="3419856"/>
            <a:ext cx="4480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SystemEvent처럼 정의만 하고 연결을 미룬 부분 존재</a:t>
            </a:r>
            <a:endParaRPr i="0" sz="11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2" name="Google Shape;662;p31"/>
          <p:cNvSpPr/>
          <p:nvPr/>
        </p:nvSpPr>
        <p:spPr>
          <a:xfrm>
            <a:off x="6446520" y="4572000"/>
            <a:ext cx="91440" cy="9144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1"/>
          <p:cNvSpPr/>
          <p:nvPr/>
        </p:nvSpPr>
        <p:spPr>
          <a:xfrm>
            <a:off x="6675120" y="4443984"/>
            <a:ext cx="4480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F/T 센서 임계값 튜닝은 수월했으나, 하드웨어 캘리브레이션 일정은 더 넉넉히 필요</a:t>
            </a:r>
            <a:endParaRPr i="0" sz="11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4" name="Google Shape;664;p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5" name="Google Shape;665;p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1"/>
          <p:cNvSpPr txBox="1"/>
          <p:nvPr/>
        </p:nvSpPr>
        <p:spPr>
          <a:xfrm>
            <a:off x="6675125" y="2584625"/>
            <a:ext cx="45993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하드웨어 설계에서 너무 큰 공차를 준 것과 부품 보관 지그 미설계로 인해 조작 과정에서 애로 사항 발생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D22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2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D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8DEF"/>
                </a:solidFill>
                <a:latin typeface="Noto Sans KR"/>
                <a:ea typeface="Noto Sans KR"/>
                <a:cs typeface="Noto Sans KR"/>
                <a:sym typeface="Noto Sans KR"/>
              </a:rPr>
              <a:t>05  자체 평가 의견</a:t>
            </a:r>
            <a:endParaRPr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3" name="Google Shape;673;p32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경험 및 성과</a:t>
            </a:r>
            <a:endParaRPr i="0" sz="2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4" name="Google Shape;674;p32"/>
          <p:cNvSpPr/>
          <p:nvPr/>
        </p:nvSpPr>
        <p:spPr>
          <a:xfrm>
            <a:off x="548640" y="1600200"/>
            <a:ext cx="7498080" cy="1828800"/>
          </a:xfrm>
          <a:prstGeom prst="roundRect">
            <a:avLst>
              <a:gd fmla="val 7000" name="adj"/>
            </a:avLst>
          </a:prstGeom>
          <a:solidFill>
            <a:srgbClr val="24262D"/>
          </a:solidFill>
          <a:ln cap="flat" cmpd="sng" w="12700">
            <a:solidFill>
              <a:srgbClr val="333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2"/>
          <p:cNvSpPr/>
          <p:nvPr/>
        </p:nvSpPr>
        <p:spPr>
          <a:xfrm>
            <a:off x="868680" y="1783080"/>
            <a:ext cx="7040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ROS2</a:t>
            </a:r>
            <a:r>
              <a:rPr 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통신(</a:t>
            </a:r>
            <a:r>
              <a:rPr i="0" lang="en-US" sz="14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Action, S</a:t>
            </a:r>
            <a:r>
              <a:rPr 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ervice, Topic)</a:t>
            </a:r>
            <a:r>
              <a:rPr i="0" lang="en-US" sz="14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기반 다단계 파이프라인(작업 관리 노드 ↔ Controller ↔ 로봇)과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i="0" lang="en-US" sz="14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DB 연동 Work Order/Recipe 관리 구조를 처음부터 끝까지 설계·구현</a:t>
            </a:r>
            <a:endParaRPr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6" name="Google Shape;676;p32"/>
          <p:cNvSpPr/>
          <p:nvPr/>
        </p:nvSpPr>
        <p:spPr>
          <a:xfrm>
            <a:off x="548640" y="3611880"/>
            <a:ext cx="7498080" cy="1417320"/>
          </a:xfrm>
          <a:prstGeom prst="roundRect">
            <a:avLst>
              <a:gd fmla="val 9032" name="adj"/>
            </a:avLst>
          </a:prstGeom>
          <a:solidFill>
            <a:srgbClr val="F4F4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2"/>
          <p:cNvSpPr/>
          <p:nvPr/>
        </p:nvSpPr>
        <p:spPr>
          <a:xfrm>
            <a:off x="868680" y="3794760"/>
            <a:ext cx="7040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250"/>
              <a:buFont typeface="Calibri"/>
              <a:buNone/>
            </a:pPr>
            <a:r>
              <a:rPr i="1" lang="en-US" sz="1250" u="none" cap="none" strike="noStrike">
                <a:solidFill>
                  <a:srgbClr val="5B5F66"/>
                </a:solidFill>
                <a:latin typeface="Noto Sans KR"/>
                <a:ea typeface="Noto Sans KR"/>
                <a:cs typeface="Noto Sans KR"/>
                <a:sym typeface="Noto Sans KR"/>
              </a:rPr>
              <a:t>[ 팀 / 개인 차원에서 느낀 점, 진로 연관성 등 자유 기술 ]</a:t>
            </a:r>
            <a:endParaRPr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8" name="Google Shape;678;p32"/>
          <p:cNvSpPr/>
          <p:nvPr/>
        </p:nvSpPr>
        <p:spPr>
          <a:xfrm>
            <a:off x="548640" y="553212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감사합니다</a:t>
            </a:r>
            <a:endParaRPr i="0" sz="2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9" name="Google Shape;679;p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B7BAC0"/>
                </a:solidFill>
                <a:latin typeface="Noto Sans KR"/>
                <a:ea typeface="Noto Sans KR"/>
                <a:cs typeface="Noto Sans KR"/>
                <a:sym typeface="Noto Sans KR"/>
              </a:rPr>
              <a:t>두산로보틱스 M0609 · 태양광 패널 자동 설치 시스템</a:t>
            </a:r>
            <a:endParaRPr i="0" sz="9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0" name="Google Shape;680;p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AC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7BAC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